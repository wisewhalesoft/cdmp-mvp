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1"/>
  </p:notesMasterIdLst>
  <p:handoutMasterIdLst>
    <p:handoutMasterId r:id="rId12"/>
  </p:handoutMasterIdLst>
  <p:sldIdLst>
    <p:sldId id="298" r:id="rId4"/>
    <p:sldId id="299" r:id="rId5"/>
    <p:sldId id="295" r:id="rId6"/>
    <p:sldId id="300" r:id="rId7"/>
    <p:sldId id="301" r:id="rId8"/>
    <p:sldId id="302" r:id="rId9"/>
    <p:sldId id="303" r:id="rId10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574" autoAdjust="0"/>
  </p:normalViewPr>
  <p:slideViewPr>
    <p:cSldViewPr snapToGrid="0">
      <p:cViewPr varScale="1">
        <p:scale>
          <a:sx n="107" d="100"/>
          <a:sy n="107" d="100"/>
        </p:scale>
        <p:origin x="44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3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5355341-DC77-4501-AE46-E3E6F2BB65B1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2026/4/9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A168566D-FD9E-46E8-9E4F-4EF22710967A}" type="datetime1">
              <a:rPr lang="zh-TW" altLang="en-US" smtClean="0"/>
              <a:pPr/>
              <a:t>2026/4/9</a:t>
            </a:fld>
            <a:endParaRPr lang="zh-TW" altLang="en-US" dirty="0"/>
          </a:p>
        </p:txBody>
      </p:sp>
      <p:sp>
        <p:nvSpPr>
          <p:cNvPr id="4" name="投影片圖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8530193B-564F-4854-8A52-728F3FB19C8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smtClean="0"/>
              <a:pPr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3027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ED4D-F82C-69F6-2F15-CFF0D7CD6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A0D983-E9DD-BC62-45B5-35E328ADC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DEEA17-1E2B-6B79-36DD-03C04418E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66FA1A-EE18-FC1C-FD2F-474DD4AE6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smtClean="0"/>
              <a:pPr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4712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smtClean="0"/>
              <a:pPr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923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在這裡插入相片或將相片拖放到這裡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algn="r" rtl="0"/>
            <a:r>
              <a:rPr lang="zh-TW" altLang="en-US"/>
              <a:t>按一下以編輯簡報標題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線投影片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 </a:t>
            </a:r>
            <a:br>
              <a:rPr lang="zh-TW" altLang="en-US"/>
            </a:br>
            <a:r>
              <a:rPr lang="zh-TW" altLang="en-US"/>
              <a:t>將相片拖放到這裡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algn="r" rtl="0"/>
            <a:r>
              <a:rPr lang="zh-TW" altLang="en-US"/>
              <a:t>按一下以編輯節分隔線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線投影片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 </a:t>
            </a:r>
            <a:br>
              <a:rPr lang="zh-TW" altLang="en-US"/>
            </a:br>
            <a:r>
              <a:rPr lang="zh-TW" altLang="en-US"/>
              <a:t>將相片拖放到這裡</a:t>
            </a:r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按一下以編輯節分隔線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影像版面配置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預留位置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插入或拖放您的相片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0" tIns="180000" rIns="180000" bIns="180000" rtlCol="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編輯頁面標題</a:t>
            </a:r>
            <a:endParaRPr lang="zh-TW" altLang="en-US" dirty="0"/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影像版面配置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預留位置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插入或拖放您的相片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44000" tIns="180000" rIns="0" bIns="180000" rtlCol="0"/>
          <a:lstStyle>
            <a:lvl1pPr algn="l">
              <a:defRPr sz="54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比較左方預留位置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比較左方預留位置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8" name="文字預留位置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型相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預留位置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插入或拖放您的相片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輸入您的標題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2" name="投影片編號預留位置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在這裡插入相片或將相片拖放到這裡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algn="r" rtl="0"/>
            <a:r>
              <a:rPr lang="zh-TW" altLang="en-US"/>
              <a:t>感謝您</a:t>
            </a:r>
            <a:endParaRPr lang="zh-TW" altLang="en-US" dirty="0"/>
          </a:p>
        </p:txBody>
      </p:sp>
      <p:sp>
        <p:nvSpPr>
          <p:cNvPr id="9" name="文字預留位置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全名</a:t>
            </a:r>
            <a:endParaRPr lang="zh-TW" altLang="en-US" dirty="0"/>
          </a:p>
        </p:txBody>
      </p:sp>
      <p:sp>
        <p:nvSpPr>
          <p:cNvPr id="10" name="文字預留位置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電話號碼</a:t>
            </a:r>
            <a:endParaRPr lang="zh-TW" altLang="en-US" dirty="0"/>
          </a:p>
        </p:txBody>
      </p:sp>
      <p:sp>
        <p:nvSpPr>
          <p:cNvPr id="11" name="文字預留位置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75000"/>
              </a:lnSpc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電子郵件或社交媒體控制代碼</a:t>
            </a:r>
            <a:endParaRPr lang="zh-TW" altLang="en-US" dirty="0"/>
          </a:p>
        </p:txBody>
      </p:sp>
      <p:sp>
        <p:nvSpPr>
          <p:cNvPr id="12" name="文字預留位置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公司網站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預留位置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1" name="文字預留位置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3" name="文字預留位置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5" name="文字預留位置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7" name="文字預留位置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</p:spPr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1" name="手繪多邊形：圖案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" name="標題預留位置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8" name="手繪多邊形：圖案 30">
            <a:extLst>
              <a:ext uri="{FF2B5EF4-FFF2-40B4-BE49-F238E27FC236}">
                <a16:creationId xmlns:a16="http://schemas.microsoft.com/office/drawing/2014/main" id="{4DE6FD3A-968D-7CCE-9EB3-D41DA9F9CADA}"/>
              </a:ext>
            </a:extLst>
          </p:cNvPr>
          <p:cNvSpPr/>
          <p:nvPr userDrawn="1"/>
        </p:nvSpPr>
        <p:spPr>
          <a:xfrm>
            <a:off x="11759998" y="6371351"/>
            <a:ext cx="432000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  <a:sym typeface="Microsoft JhengHei UI" panose="020B0604030504040204" pitchFamily="34" charset="-120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預留位置 11" descr="一起伸向圓圈內的手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bIns="72000" rtlCol="0" anchor="ctr" anchorCtr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電銷名單撈取</a:t>
            </a: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pPr rtl="0"/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DCD03-D6B1-6B64-B0A2-15EE2B12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3BFFA-5163-81FB-71BD-4BBDBA9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 dirty="0"/>
              <a:t>電銷名單與部門比例維護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41D488F2-0493-D6B5-1ADF-EC07E4662E4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r>
              <a:rPr lang="en-US" altLang="zh-TW" dirty="0"/>
              <a:t>1. </a:t>
            </a:r>
            <a:r>
              <a:rPr lang="zh-TW" altLang="en-US" dirty="0"/>
              <a:t>名單設定複製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52B8750C-1A14-A477-4AF9-BDE85AD27C42}"/>
              </a:ext>
            </a:extLst>
          </p:cNvPr>
          <p:cNvSpPr txBox="1">
            <a:spLocks/>
          </p:cNvSpPr>
          <p:nvPr/>
        </p:nvSpPr>
        <p:spPr>
          <a:xfrm>
            <a:off x="677334" y="2109622"/>
            <a:ext cx="4298334" cy="3880773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/>
              <a:t>勾選前月的名單類型</a:t>
            </a:r>
            <a:endParaRPr lang="en-US" altLang="zh-TW"/>
          </a:p>
          <a:p>
            <a:r>
              <a:rPr lang="zh-TW" altLang="en-US"/>
              <a:t>按下</a:t>
            </a:r>
            <a:r>
              <a:rPr lang="en-US" altLang="zh-TW"/>
              <a:t>[</a:t>
            </a:r>
            <a:r>
              <a:rPr lang="zh-TW" altLang="en-US"/>
              <a:t>複製名單</a:t>
            </a:r>
            <a:r>
              <a:rPr lang="en-US" altLang="zh-TW"/>
              <a:t>]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6BBD9CE-FDD9-42CF-E30F-418869AE1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4"/>
          <a:stretch>
            <a:fillRect/>
          </a:stretch>
        </p:blipFill>
        <p:spPr>
          <a:xfrm>
            <a:off x="4975668" y="2003461"/>
            <a:ext cx="6858957" cy="416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6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 dirty="0"/>
              <a:t>電銷名單與部門比例維護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F204AFD2-303D-4B48-AA3E-C96B74D812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r>
              <a:rPr lang="en-US" altLang="zh-TW" dirty="0"/>
              <a:t>2. </a:t>
            </a:r>
            <a:r>
              <a:rPr lang="zh-TW" altLang="en-US" dirty="0"/>
              <a:t>計算案件數量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0B684DD-0F1D-3D69-D2B0-12736BDCB420}"/>
              </a:ext>
            </a:extLst>
          </p:cNvPr>
          <p:cNvSpPr txBox="1">
            <a:spLocks/>
          </p:cNvSpPr>
          <p:nvPr/>
        </p:nvSpPr>
        <p:spPr>
          <a:xfrm>
            <a:off x="677334" y="2109622"/>
            <a:ext cx="3383678" cy="3880773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  <a:sym typeface="Microsoft JhengHei UI" panose="020B0604030504040204" pitchFamily="34" charset="-12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勾選名單</a:t>
            </a:r>
            <a:endParaRPr lang="en-US" altLang="zh-TW" dirty="0"/>
          </a:p>
          <a:p>
            <a:r>
              <a:rPr lang="zh-TW" altLang="en-US" dirty="0"/>
              <a:t>按下</a:t>
            </a:r>
            <a:r>
              <a:rPr lang="en-US" altLang="zh-TW" dirty="0"/>
              <a:t>[</a:t>
            </a:r>
            <a:r>
              <a:rPr lang="zh-TW" altLang="en-US" dirty="0"/>
              <a:t>計算案件數量</a:t>
            </a:r>
            <a:r>
              <a:rPr lang="en-US" altLang="zh-TW" dirty="0"/>
              <a:t>]</a:t>
            </a:r>
          </a:p>
          <a:p>
            <a:pPr marL="0" indent="0">
              <a:buNone/>
            </a:pPr>
            <a:r>
              <a:rPr lang="zh-TW" altLang="en-US" dirty="0">
                <a:solidFill>
                  <a:srgbClr val="0070C0"/>
                </a:solidFill>
              </a:rPr>
              <a:t>問題：</a:t>
            </a:r>
            <a:endParaRPr lang="en-US" altLang="zh-TW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TW" altLang="en-US" dirty="0">
                <a:solidFill>
                  <a:srgbClr val="0070C0"/>
                </a:solidFill>
              </a:rPr>
              <a:t>每天計算的數量都會不一樣，所以預先計算之數量無法進行實際分派基準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7A7C335-093B-BABF-8198-94D283D52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042" y="1970284"/>
            <a:ext cx="7582958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C25FBB-804C-E293-AD98-7FC5A35B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電銷名單與部門比例維護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0C53EE-B7D9-6271-AD16-7E62B1197D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計算案件數量</a:t>
            </a:r>
            <a:r>
              <a:rPr lang="en-US" altLang="zh-TW" dirty="0"/>
              <a:t> – </a:t>
            </a:r>
            <a:r>
              <a:rPr lang="zh-TW" altLang="en-US" dirty="0"/>
              <a:t>現行名單設定條件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B4C63C-627F-7AC6-38F4-EA067CE5C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12000"/>
            <a:ext cx="8478313" cy="477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5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2852-E8EE-11ED-C3B6-94239659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27412D-7247-5E64-21AD-347F0A5F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電銷名單與部門比例維護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B04D5A-6238-5D75-0986-EF300099FC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計算案件數量</a:t>
            </a:r>
            <a:r>
              <a:rPr lang="en-US" altLang="zh-TW" dirty="0"/>
              <a:t> –</a:t>
            </a:r>
            <a:r>
              <a:rPr lang="zh-TW" altLang="en-US" dirty="0"/>
              <a:t> 新名單設定條件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3C14955-CBE8-1F76-5137-B24394E3C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1512000"/>
            <a:ext cx="11888859" cy="4791744"/>
          </a:xfrm>
          <a:prstGeom prst="rect">
            <a:avLst/>
          </a:prstGeom>
        </p:spPr>
      </p:pic>
      <p:sp>
        <p:nvSpPr>
          <p:cNvPr id="9" name="圖說文字: 折線加上框線和強調線 8">
            <a:extLst>
              <a:ext uri="{FF2B5EF4-FFF2-40B4-BE49-F238E27FC236}">
                <a16:creationId xmlns:a16="http://schemas.microsoft.com/office/drawing/2014/main" id="{1EF987AD-D419-336B-AED1-32D104D002C9}"/>
              </a:ext>
            </a:extLst>
          </p:cNvPr>
          <p:cNvSpPr/>
          <p:nvPr/>
        </p:nvSpPr>
        <p:spPr>
          <a:xfrm>
            <a:off x="5506947" y="1346303"/>
            <a:ext cx="1345915" cy="458005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196"/>
              <a:gd name="adj6" fmla="val -4067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請問狀態時間指哪個狀態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D3113A6-9CF7-DBE5-6BD5-992A1239FA22}"/>
              </a:ext>
            </a:extLst>
          </p:cNvPr>
          <p:cNvSpPr txBox="1"/>
          <p:nvPr/>
        </p:nvSpPr>
        <p:spPr>
          <a:xfrm>
            <a:off x="10005441" y="206947"/>
            <a:ext cx="2034988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以下篩選建議先不實作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客戶屬性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保有案件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往來案件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7FC4294-53F0-7375-3AC4-C340EDF6851D}"/>
              </a:ext>
            </a:extLst>
          </p:cNvPr>
          <p:cNvSpPr txBox="1"/>
          <p:nvPr/>
        </p:nvSpPr>
        <p:spPr>
          <a:xfrm>
            <a:off x="2079812" y="196258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單選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109B653-5386-6A86-203E-F8E456F5664E}"/>
              </a:ext>
            </a:extLst>
          </p:cNvPr>
          <p:cNvSpPr txBox="1"/>
          <p:nvPr/>
        </p:nvSpPr>
        <p:spPr>
          <a:xfrm>
            <a:off x="3675529" y="196258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多選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67EA21-0B48-E633-686B-5420F8CC12B4}"/>
              </a:ext>
            </a:extLst>
          </p:cNvPr>
          <p:cNvSpPr txBox="1"/>
          <p:nvPr/>
        </p:nvSpPr>
        <p:spPr>
          <a:xfrm>
            <a:off x="6580993" y="196258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單選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ED95DFF-FFC1-6AB1-3E26-F855D550570D}"/>
              </a:ext>
            </a:extLst>
          </p:cNvPr>
          <p:cNvSpPr txBox="1"/>
          <p:nvPr/>
        </p:nvSpPr>
        <p:spPr>
          <a:xfrm>
            <a:off x="7978929" y="196258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多選</a:t>
            </a:r>
          </a:p>
        </p:txBody>
      </p:sp>
      <p:sp>
        <p:nvSpPr>
          <p:cNvPr id="15" name="圖說文字: 折線加上框線和強調線 14">
            <a:extLst>
              <a:ext uri="{FF2B5EF4-FFF2-40B4-BE49-F238E27FC236}">
                <a16:creationId xmlns:a16="http://schemas.microsoft.com/office/drawing/2014/main" id="{BF3A0BDF-587D-6EC0-7010-3C6DF1FFF97C}"/>
              </a:ext>
            </a:extLst>
          </p:cNvPr>
          <p:cNvSpPr/>
          <p:nvPr/>
        </p:nvSpPr>
        <p:spPr>
          <a:xfrm>
            <a:off x="7577840" y="1161054"/>
            <a:ext cx="1345915" cy="643255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6879"/>
              <a:gd name="adj6" fmla="val -32013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廠牌若為非本牌，是否不需再選廠牌名稱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FE4BBD-28F4-5B4D-56A9-649DD3234CB6}"/>
              </a:ext>
            </a:extLst>
          </p:cNvPr>
          <p:cNvSpPr txBox="1"/>
          <p:nvPr/>
        </p:nvSpPr>
        <p:spPr>
          <a:xfrm>
            <a:off x="9486457" y="196210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單選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64EE96C-5592-1040-D348-6931B6E80BA6}"/>
              </a:ext>
            </a:extLst>
          </p:cNvPr>
          <p:cNvSpPr txBox="1"/>
          <p:nvPr/>
        </p:nvSpPr>
        <p:spPr>
          <a:xfrm>
            <a:off x="10993985" y="196210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多選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D05AC03-10F3-A81B-595C-A90A1B633FA1}"/>
              </a:ext>
            </a:extLst>
          </p:cNvPr>
          <p:cNvSpPr txBox="1"/>
          <p:nvPr/>
        </p:nvSpPr>
        <p:spPr>
          <a:xfrm>
            <a:off x="4985276" y="19621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文字輸入</a:t>
            </a:r>
          </a:p>
        </p:txBody>
      </p:sp>
    </p:spTree>
    <p:extLst>
      <p:ext uri="{BB962C8B-B14F-4D97-AF65-F5344CB8AC3E}">
        <p14:creationId xmlns:p14="http://schemas.microsoft.com/office/powerpoint/2010/main" val="9606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3BF62-F2DB-2046-480F-2B820598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電銷名單與部門比例維護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994835-71B3-BB7D-19B6-02EE9153532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TW" dirty="0"/>
              <a:t>3. </a:t>
            </a:r>
            <a:r>
              <a:rPr lang="zh-TW" altLang="en-US" dirty="0"/>
              <a:t>部門比例維護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17DF2E3-D4AB-5085-9AD3-ECF5C23E9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2732"/>
            <a:ext cx="12192000" cy="336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E52A9B-73DE-1F39-A6F9-359EB0A1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電銷人員比例維護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234822-A7CF-82AA-4158-5183023212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6748929" cy="360000"/>
          </a:xfrm>
        </p:spPr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E22AE0-757C-1D22-0297-BC438DEC8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694"/>
            <a:ext cx="12192000" cy="524900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CE1B133-0B55-0319-B19F-7AD6E30549B5}"/>
              </a:ext>
            </a:extLst>
          </p:cNvPr>
          <p:cNvSpPr txBox="1"/>
          <p:nvPr/>
        </p:nvSpPr>
        <p:spPr>
          <a:xfrm>
            <a:off x="9690848" y="77699"/>
            <a:ext cx="2349582" cy="160043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由處長門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部長維運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每處總比例為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只要資料存檔，部經理都可以看到結果並可直接修改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簽核、獎懲制建議先不實作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892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502_TF16411250.potx" id="{6BC299B1-5336-468F-95B2-9C3C87564452}" vid="{ABD121BE-01A4-44C3-B3C1-D76C2245429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{CB05EE30-14C3-48FE-87AC-5B31B5B9DC31}TF992e0334-4647-4579-8d14-183019b0908ccb313ada_win32-ccf7034ce932</Template>
  <TotalTime>46</TotalTime>
  <Words>211</Words>
  <Application>Microsoft Office PowerPoint</Application>
  <PresentationFormat>寬螢幕</PresentationFormat>
  <Paragraphs>39</Paragraphs>
  <Slides>7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Microsoft JhengHei UI</vt:lpstr>
      <vt:lpstr>微軟正黑體</vt:lpstr>
      <vt:lpstr>Arial</vt:lpstr>
      <vt:lpstr>Office 佈景主題</vt:lpstr>
      <vt:lpstr>電銷名單撈取</vt:lpstr>
      <vt:lpstr>電銷名單與部門比例維護</vt:lpstr>
      <vt:lpstr>電銷名單與部門比例維護</vt:lpstr>
      <vt:lpstr>電銷名單與部門比例維護</vt:lpstr>
      <vt:lpstr>電銷名單與部門比例維護</vt:lpstr>
      <vt:lpstr>電銷名單與部門比例維護</vt:lpstr>
      <vt:lpstr>電銷人員比例維護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鍾文娟</dc:creator>
  <cp:lastModifiedBy>鍾文娟</cp:lastModifiedBy>
  <cp:revision>18</cp:revision>
  <dcterms:created xsi:type="dcterms:W3CDTF">2026-04-09T08:14:45Z</dcterms:created>
  <dcterms:modified xsi:type="dcterms:W3CDTF">2026-04-09T09:01:04Z</dcterms:modified>
</cp:coreProperties>
</file>