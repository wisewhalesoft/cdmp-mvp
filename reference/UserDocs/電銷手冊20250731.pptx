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omments/modernComment_10E_C3803D60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271" r:id="rId3"/>
    <p:sldId id="306" r:id="rId4"/>
    <p:sldId id="278" r:id="rId5"/>
    <p:sldId id="288" r:id="rId6"/>
    <p:sldId id="276" r:id="rId7"/>
    <p:sldId id="272" r:id="rId8"/>
    <p:sldId id="287" r:id="rId9"/>
    <p:sldId id="275" r:id="rId10"/>
    <p:sldId id="307" r:id="rId11"/>
    <p:sldId id="286" r:id="rId12"/>
    <p:sldId id="293" r:id="rId13"/>
    <p:sldId id="296" r:id="rId14"/>
    <p:sldId id="289" r:id="rId15"/>
    <p:sldId id="297" r:id="rId16"/>
    <p:sldId id="295" r:id="rId17"/>
    <p:sldId id="294" r:id="rId18"/>
    <p:sldId id="298" r:id="rId19"/>
    <p:sldId id="299" r:id="rId20"/>
    <p:sldId id="300" r:id="rId21"/>
    <p:sldId id="301" r:id="rId22"/>
    <p:sldId id="302" r:id="rId23"/>
    <p:sldId id="303" r:id="rId24"/>
    <p:sldId id="304" r:id="rId25"/>
    <p:sldId id="305" r:id="rId26"/>
    <p:sldId id="309" r:id="rId27"/>
    <p:sldId id="308" r:id="rId28"/>
    <p:sldId id="310" r:id="rId29"/>
    <p:sldId id="279" r:id="rId30"/>
    <p:sldId id="274" r:id="rId31"/>
    <p:sldId id="277" r:id="rId32"/>
    <p:sldId id="270" r:id="rId33"/>
    <p:sldId id="280" r:id="rId34"/>
    <p:sldId id="273" r:id="rId3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407A477-38F6-15CC-7974-FCDA37DCACA5}" name="陳彥蓉" initials="陳彥蓉" userId="S::ELEANOR@HFCFinance.com.tw::9e8b320a-0840-4872-9f29-c479524c98f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中等深淺樣式 4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176" autoAdjust="0"/>
  </p:normalViewPr>
  <p:slideViewPr>
    <p:cSldViewPr snapToGrid="0">
      <p:cViewPr varScale="1">
        <p:scale>
          <a:sx n="82" d="100"/>
          <a:sy n="82" d="100"/>
        </p:scale>
        <p:origin x="48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omments/modernComment_10E_C3803D6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6431C93-E94A-4BC8-AB8B-8E6777CD802B}" authorId="{B407A477-38F6-15CC-7974-FCDA37DCACA5}" created="2023-10-05T09:30:58.70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279961440" sldId="270"/>
      <ac:graphicFrameMk id="3" creationId="{BE0F9325-1468-7012-89BE-921107CF8DD7}"/>
      <ac:tblMk/>
      <ac:tcMk rowId="1026562095" colId="2344993818"/>
      <ac:txMk cp="0" len="3">
        <ac:context len="4" hash="1812604"/>
      </ac:txMk>
    </ac:txMkLst>
    <p188:pos x="7008485" y="2341284"/>
    <p188:txBody>
      <a:bodyPr/>
      <a:lstStyle/>
      <a:p>
        <a:r>
          <a:rPr lang="zh-TW" altLang="en-US"/>
          <a:t>2023/11月更改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007B10-EE9F-4D2C-A3B3-DF80C824529D}" type="datetimeFigureOut">
              <a:rPr lang="zh-TW" altLang="en-US" smtClean="0"/>
              <a:t>2025/8/22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71D0AE-2FE5-455A-9852-9087801E96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2849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2023.11</a:t>
            </a:r>
            <a:r>
              <a:rPr lang="zh-TW" altLang="en-US" dirty="0"/>
              <a:t>月開始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71D0AE-2FE5-455A-9852-9087801E96AF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09293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71D0AE-2FE5-455A-9852-9087801E96AF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94706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AB7CB-4EC4-9F73-F705-CD9E7B908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98B3A5F-6BA4-927F-9CC2-259B7A25CC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AF35D73-AD95-F0CD-65B5-CB87F55E76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99226EA-1D3F-8DD1-D2DF-1C3AC4AD4D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71D0AE-2FE5-455A-9852-9087801E96AF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8322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AA1FE-2F7B-8732-F3D5-68217AE48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B54090C-B658-4302-02BC-CDB57763D2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6CA61EC-6E57-9D2A-440D-1EE6ACA041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7076F76-3A82-C1D4-F778-7349DF0CD3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71D0AE-2FE5-455A-9852-9087801E96AF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84030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02E27-173A-13DB-2E75-340280B4E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2DEC7CB-BE64-1CF8-00D7-60060BF215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A1BC877-4860-6A67-06F3-18EF280C65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CFD0B17-1A6F-A314-9E30-A4FE7F8272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71D0AE-2FE5-455A-9852-9087801E96AF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47540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ED30C-92B8-637B-2C89-A7B7F5BEF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DD861CC-60B8-A878-8AC6-529B6C111F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CDCF637-7E17-5A5C-6484-003DE8D8F5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B756448-3B14-890C-4DEA-FF896914AF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71D0AE-2FE5-455A-9852-9087801E96AF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95623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AFDC5-CA42-03D3-EC0B-76F968A60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411199F-2612-07DD-A1FA-4B83596A58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40D1FD3-CA36-6ED5-2AEF-9D19D74614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1E6A005-DADF-9E4D-4DF3-501022A969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71D0AE-2FE5-455A-9852-9087801E96AF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20965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952C6-4BAF-80D2-4A81-CF731F07C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95C65C7-92A2-6C07-F3DE-CCA594C357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FC87000-E5FB-804F-3920-02CAA477B2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135AF47-8769-D72B-5AB6-49E45551F9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71D0AE-2FE5-455A-9852-9087801E96AF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56685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2023.10.11</a:t>
            </a:r>
            <a:r>
              <a:rPr lang="zh-TW" altLang="en-US" dirty="0"/>
              <a:t> 是否要加一項若現居地址的區碼和客戶提供的市話不同也不成立，但送至信審核對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71D0AE-2FE5-455A-9852-9087801E96AF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69270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71D0AE-2FE5-455A-9852-9087801E96AF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50885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7C5D06-7F64-E177-8671-ED865A93BC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2F0D6E9-901B-F43D-4DC4-813A4EE903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C5B1A70-405D-C164-55ED-3F8E36048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1A4A1-7ABF-43C3-8347-01251A014776}" type="datetimeFigureOut">
              <a:rPr lang="zh-TW" altLang="en-US" smtClean="0"/>
              <a:t>2025/8/22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6118D7C-7749-C5C4-85FA-403D9E90A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2060A88-9716-80B1-A1E8-36CC7F409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284D7-8C87-4FD4-8C33-55BF9B88D6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4147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3B8653-9E16-D9C2-72F4-A25472B55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F40A1B7-4830-F5E0-878C-D6916E344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B413772-8C11-9FDC-BA4B-9246B9AE1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1A4A1-7ABF-43C3-8347-01251A014776}" type="datetimeFigureOut">
              <a:rPr lang="zh-TW" altLang="en-US" smtClean="0"/>
              <a:t>2025/8/22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C5186A9-35FA-BD74-F18E-71D7440F0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882E2EF-7306-1052-2C7C-E216765D7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284D7-8C87-4FD4-8C33-55BF9B88D6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177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E330A7-2288-37B0-4500-ED5F4BA6E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8605417-7F13-A45E-8BE6-291E161A1D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AC4C7AF-F2F6-842C-6E68-659654A25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1A4A1-7ABF-43C3-8347-01251A014776}" type="datetimeFigureOut">
              <a:rPr lang="zh-TW" altLang="en-US" smtClean="0"/>
              <a:t>2025/8/22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014F583-5B89-9E46-DA5F-63AAB91EB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D155DD-5B4C-9E5B-57C7-846002E6C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284D7-8C87-4FD4-8C33-55BF9B88D6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1790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A6B36D-9158-70B0-03E1-0E6215FE1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EDF9969-A417-5D2F-E86E-7CCC6E5C51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442A6F6-1318-68AD-9B48-3C57A01745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E70F497-CC3C-FA17-63BF-0E3E3F9F1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1A4A1-7ABF-43C3-8347-01251A014776}" type="datetimeFigureOut">
              <a:rPr lang="zh-TW" altLang="en-US" smtClean="0"/>
              <a:t>2025/8/22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A6CF54E-1F14-5DCA-7381-45A693307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E287971-32D4-AB61-C345-EE4446932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284D7-8C87-4FD4-8C33-55BF9B88D6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4908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52D42A-DA0A-A0C8-0B09-E9AF08795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1DDDF64-8628-AD8B-F318-DA9DCBB0A4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233C486-DF9F-02EA-3B7E-97F376E72D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CAD9315-12C7-EBD3-C0CE-A5A46FFB7E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C44ACCE-00B6-D937-3F1C-623FDAD789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2E9CD0B-801D-8E28-5B4B-A4AF5F25B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1A4A1-7ABF-43C3-8347-01251A014776}" type="datetimeFigureOut">
              <a:rPr lang="zh-TW" altLang="en-US" smtClean="0"/>
              <a:t>2025/8/22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736881A-9856-803F-CB0B-9325CCAED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471DE22-92C0-C37E-04EB-12EA04C28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284D7-8C87-4FD4-8C33-55BF9B88D6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6875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0F26C0-B67F-B9EB-C736-61A29ECAA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253084A-F627-4E38-1122-2B64518A4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1A4A1-7ABF-43C3-8347-01251A014776}" type="datetimeFigureOut">
              <a:rPr lang="zh-TW" altLang="en-US" smtClean="0"/>
              <a:t>2025/8/22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63438BC-7CDC-3431-F39A-EDD7DC4DF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1267500-328A-1EF3-D1F3-1E5F78D79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284D7-8C87-4FD4-8C33-55BF9B88D6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2174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1ABE15F-8714-C933-A85B-5EDDC0298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1A4A1-7ABF-43C3-8347-01251A014776}" type="datetimeFigureOut">
              <a:rPr lang="zh-TW" altLang="en-US" smtClean="0"/>
              <a:t>2025/8/22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5BC75A2-C024-AD55-DD1B-0E2776C09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DC9F276-EA81-BE6D-FD86-C0312D043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284D7-8C87-4FD4-8C33-55BF9B88D6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506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39281B-F34D-D7BB-0172-F172681CD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86BA438-F08A-B27F-B876-F94BE5B31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361FA1C-EDF7-A7C8-DFDC-F12B004F2B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B96B79B-D8A1-9C5B-B5CB-9403927A6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1A4A1-7ABF-43C3-8347-01251A014776}" type="datetimeFigureOut">
              <a:rPr lang="zh-TW" altLang="en-US" smtClean="0"/>
              <a:t>2025/8/22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C558254-8255-100F-F06E-BC8F48F8D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54B32F0-D76F-8D52-2FB8-AD1C4B621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284D7-8C87-4FD4-8C33-55BF9B88D6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2813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DCDB10-D40A-A2E8-8B99-211C95C2B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2EF3D966-8CCC-69DB-D5E5-84A701E918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052F006-8811-4FEA-7778-D42D886B1A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D138F36-E1B4-C084-529F-5272C36F0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1A4A1-7ABF-43C3-8347-01251A014776}" type="datetimeFigureOut">
              <a:rPr lang="zh-TW" altLang="en-US" smtClean="0"/>
              <a:t>2025/8/22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2512F4D-5AB1-D57C-E261-9D1C35270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E6AF421-25F6-B0EE-5B31-D890064D3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284D7-8C87-4FD4-8C33-55BF9B88D6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4624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947334-AFC8-AD81-5C2B-628F84C69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4FBE694-B966-E7DA-AA12-BCE5B60B8D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813C897-7105-96B7-376B-6078D557C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1A4A1-7ABF-43C3-8347-01251A014776}" type="datetimeFigureOut">
              <a:rPr lang="zh-TW" altLang="en-US" smtClean="0"/>
              <a:t>2025/8/22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6CFFCBE-D474-449E-478D-2466FE7E9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6A92B1E-D20E-94FF-1BE0-A57F84164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284D7-8C87-4FD4-8C33-55BF9B88D6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8938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22E1D39-5465-164F-659A-65BCDD919E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7AB9BA5-DAD5-963D-1BFF-C1C636179C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2CE86B-AEA5-19CE-7033-AAB46FD70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1A4A1-7ABF-43C3-8347-01251A014776}" type="datetimeFigureOut">
              <a:rPr lang="zh-TW" altLang="en-US" smtClean="0"/>
              <a:t>2025/8/22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E5DC194-0C17-4EE2-7BC3-F6BE75092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8369E75-B23C-0E83-3948-85B3D7B15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284D7-8C87-4FD4-8C33-55BF9B88D6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2928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1400853-C6E3-A842-DF91-5EE58B98E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FC42F9E-8042-036E-1C1F-42E7FDA31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048155A-7636-0019-CE9F-C1DCD4BC82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1A4A1-7ABF-43C3-8347-01251A014776}" type="datetimeFigureOut">
              <a:rPr lang="zh-TW" altLang="en-US" smtClean="0"/>
              <a:t>2025/8/22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2597562-9332-C989-422C-6959FA4E23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32E93F8-366A-1894-1E6B-74EF2C3E12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7284D7-8C87-4FD4-8C33-55BF9B88D6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39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1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E_C3803D60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99481F-1CF6-142A-94A2-F20A4C30FE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電銷手冊</a:t>
            </a:r>
          </a:p>
        </p:txBody>
      </p:sp>
    </p:spTree>
    <p:extLst>
      <p:ext uri="{BB962C8B-B14F-4D97-AF65-F5344CB8AC3E}">
        <p14:creationId xmlns:p14="http://schemas.microsoft.com/office/powerpoint/2010/main" val="2095623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24BE30-6319-AD55-434F-08C34449C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733" y="269333"/>
            <a:ext cx="3098074" cy="566692"/>
          </a:xfrm>
        </p:spPr>
        <p:txBody>
          <a:bodyPr>
            <a:normAutofit fontScale="90000"/>
          </a:bodyPr>
          <a:lstStyle/>
          <a:p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一、名單規則</a:t>
            </a:r>
          </a:p>
        </p:txBody>
      </p:sp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74904D41-789C-FE80-ACB8-5AD60614F3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6784957"/>
              </p:ext>
            </p:extLst>
          </p:nvPr>
        </p:nvGraphicFramePr>
        <p:xfrm>
          <a:off x="463732" y="836024"/>
          <a:ext cx="11339492" cy="58094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1469">
                  <a:extLst>
                    <a:ext uri="{9D8B030D-6E8A-4147-A177-3AD203B41FA5}">
                      <a16:colId xmlns:a16="http://schemas.microsoft.com/office/drawing/2014/main" val="1126279656"/>
                    </a:ext>
                  </a:extLst>
                </a:gridCol>
                <a:gridCol w="4234170">
                  <a:extLst>
                    <a:ext uri="{9D8B030D-6E8A-4147-A177-3AD203B41FA5}">
                      <a16:colId xmlns:a16="http://schemas.microsoft.com/office/drawing/2014/main" val="1407444327"/>
                    </a:ext>
                  </a:extLst>
                </a:gridCol>
                <a:gridCol w="4893853">
                  <a:extLst>
                    <a:ext uri="{9D8B030D-6E8A-4147-A177-3AD203B41FA5}">
                      <a16:colId xmlns:a16="http://schemas.microsoft.com/office/drawing/2014/main" val="1366370425"/>
                    </a:ext>
                  </a:extLst>
                </a:gridCol>
              </a:tblGrid>
              <a:tr h="83816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項目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規則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備註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7318474"/>
                  </a:ext>
                </a:extLst>
              </a:tr>
              <a:tr h="110040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名單分派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每個工作日早上配（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07:35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分派），</a:t>
                      </a:r>
                      <a:r>
                        <a:rPr lang="en-US" altLang="zh-TW" sz="1200" b="1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個工作日未撥收走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00" b="0" strike="noStrike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汽車名單收走會隨機分給同處同類型的人（</a:t>
                      </a:r>
                      <a:r>
                        <a:rPr lang="en-US" altLang="zh-TW" sz="1200" b="0" strike="noStrike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2023/10/01</a:t>
                      </a:r>
                      <a:r>
                        <a:rPr lang="zh-TW" altLang="en-US" sz="1200" b="0" strike="noStrike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起）</a:t>
                      </a:r>
                      <a:endParaRPr lang="en-US" altLang="zh-TW" sz="1200" b="0" strike="noStrike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l"/>
                      <a:r>
                        <a:rPr lang="zh-TW" altLang="en-US" sz="1200" b="0" strike="noStrike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機車名單收走會隨機分給同處同類型的人</a:t>
                      </a:r>
                      <a:endParaRPr lang="en-US" altLang="zh-TW" sz="1200" b="0" strike="noStrike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l"/>
                      <a:r>
                        <a:rPr lang="zh-TW" altLang="en-US" sz="1200" b="0" strike="noStrike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廣宣組被分派的汽車名單被收走一樣是隨機分給泛廣宣組的人</a:t>
                      </a:r>
                      <a:endParaRPr lang="en-US" altLang="zh-TW" sz="1200" b="0" strike="noStrike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l"/>
                      <a:r>
                        <a:rPr lang="zh-TW" altLang="en-US" sz="1200" b="0" strike="noStrike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必須下聯絡記錄</a:t>
                      </a:r>
                      <a:r>
                        <a:rPr lang="en-US" altLang="zh-TW" sz="1200" b="0" strike="noStrike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&amp;</a:t>
                      </a:r>
                      <a:r>
                        <a:rPr lang="zh-TW" altLang="en-US" sz="1200" b="0" strike="noStrike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打超過</a:t>
                      </a:r>
                      <a:r>
                        <a:rPr lang="en-US" altLang="zh-TW" sz="1200" b="0" strike="noStrike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</a:t>
                      </a:r>
                      <a:r>
                        <a:rPr lang="zh-TW" altLang="en-US" sz="1200" b="0" strike="noStrike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秒才不會被收走</a:t>
                      </a:r>
                      <a:endParaRPr lang="en-US" altLang="zh-TW" sz="1200" b="0" strike="noStrike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9713734"/>
                  </a:ext>
                </a:extLst>
              </a:tr>
              <a:tr h="97979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名單效期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45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個日曆日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(+HOT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多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30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個日曆日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</a:p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電銷人員查得到同處同事有效的名單（以方便請假代理）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副理</a:t>
                      </a: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/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襄理</a:t>
                      </a: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/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課長</a:t>
                      </a: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100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筆、主任</a:t>
                      </a: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75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筆、專員</a:t>
                      </a: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50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筆</a:t>
                      </a:r>
                      <a:endParaRPr lang="en-US" altLang="zh-TW" sz="1200" kern="1200" dirty="0">
                        <a:solidFill>
                          <a:schemeClr val="dk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algn="l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（分派名單</a:t>
                      </a: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/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外部名單皆可加</a:t>
                      </a: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HOT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）</a:t>
                      </a:r>
                      <a:br>
                        <a:rPr lang="en-US" altLang="zh-TW" sz="1200" kern="1200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</a:b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（主管不能壓</a:t>
                      </a: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HOT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）</a:t>
                      </a:r>
                      <a:br>
                        <a:rPr lang="en-US" altLang="zh-TW" sz="1200" kern="1200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</a:b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注：</a:t>
                      </a: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HOT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用意為針對有望成交客戶進行名單保留，避免名單失效、收回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1225319"/>
                  </a:ext>
                </a:extLst>
              </a:tr>
              <a:tr h="11579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CR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名單分派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案件期數在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期以內會優先派給成案電銷人員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符合下列條件將</a:t>
                      </a:r>
                      <a:r>
                        <a:rPr lang="zh-TW" altLang="en-US" sz="1200" b="1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不會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分派</a:t>
                      </a:r>
                      <a:r>
                        <a:rPr lang="en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CR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客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:</a:t>
                      </a:r>
                    </a:p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承辦超過兩年之案件</a:t>
                      </a:r>
                    </a:p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2.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該業務已離職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或不再擔任電銷業務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3.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前次分派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CR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業務但未於期限內聯繫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被系統抽案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</a:p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4.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選出之優勢案件類別非為同組別人員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5.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該業務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CR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案件大於當月應配名單數量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5165149"/>
                  </a:ext>
                </a:extLst>
              </a:tr>
              <a:tr h="83816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離職人員名單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離職隔天凌晨排程把該人員擁有的所有名單收回給處長</a:t>
                      </a:r>
                      <a:r>
                        <a:rPr lang="zh-TW" altLang="en-US" sz="1200" strike="noStrike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，未分派的會自動回處長身上</a:t>
                      </a:r>
                      <a:endParaRPr lang="zh-TW" altLang="en-US" sz="1200" strike="sngStrike" dirty="0">
                        <a:solidFill>
                          <a:srgbClr val="FF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LINE@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透過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130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轉派的會隔日生效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l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名單回處長身上後，轉派出去會重新壓上指派日（名單名稱不變），但是有撥打紀錄的名單就不會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9756760"/>
                  </a:ext>
                </a:extLst>
              </a:tr>
              <a:tr h="83816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關懷名單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algn="l">
                        <a:buAutoNum type="arabicPeriod"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撈七個月前作廢案件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打過電話但婉拒的客戶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l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l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2.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排除目前為止有承案過的（只找新客戶）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關懷名單為外部名單的一種，不會受到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天收回限制，但效期仍為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45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天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18832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0093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80DF0F-8425-B745-F1E1-2DEBC9A71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二、名單回收規範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F543237-655D-4DDE-33A5-93465690D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21264"/>
            <a:ext cx="8467108" cy="4385759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6B1D3024-D57B-AA0F-9C14-4F7D2FDECBBD}"/>
              </a:ext>
            </a:extLst>
          </p:cNvPr>
          <p:cNvSpPr txBox="1"/>
          <p:nvPr/>
        </p:nvSpPr>
        <p:spPr>
          <a:xfrm>
            <a:off x="838200" y="6036510"/>
            <a:ext cx="61863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※</a:t>
            </a:r>
            <a:r>
              <a:rPr lang="zh-TW" altLang="en-US" dirty="0"/>
              <a:t> 營業課長以上他們身上的名單不收回，但案件還是會過期</a:t>
            </a:r>
            <a:endParaRPr lang="en-US" altLang="zh-TW" dirty="0"/>
          </a:p>
          <a:p>
            <a:r>
              <a:rPr lang="en-US" altLang="zh-TW" dirty="0"/>
              <a:t>※</a:t>
            </a:r>
            <a:r>
              <a:rPr lang="zh-TW" altLang="en-US" dirty="0"/>
              <a:t> 中五滿三名單 </a:t>
            </a:r>
            <a:r>
              <a:rPr lang="en-US" altLang="zh-TW" dirty="0"/>
              <a:t>(T5</a:t>
            </a:r>
            <a:r>
              <a:rPr lang="zh-TW" altLang="en-US" dirty="0"/>
              <a:t>開頭</a:t>
            </a:r>
            <a:r>
              <a:rPr lang="en-US" altLang="zh-TW" dirty="0"/>
              <a:t>)</a:t>
            </a:r>
            <a:r>
              <a:rPr lang="zh-TW" altLang="en-US" dirty="0"/>
              <a:t> 不抽案</a:t>
            </a:r>
          </a:p>
        </p:txBody>
      </p:sp>
    </p:spTree>
    <p:extLst>
      <p:ext uri="{BB962C8B-B14F-4D97-AF65-F5344CB8AC3E}">
        <p14:creationId xmlns:p14="http://schemas.microsoft.com/office/powerpoint/2010/main" val="4127451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24BE30-6319-AD55-434F-08C34449C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732" y="269333"/>
            <a:ext cx="6906331" cy="566692"/>
          </a:xfrm>
        </p:spPr>
        <p:txBody>
          <a:bodyPr>
            <a:normAutofit fontScale="90000"/>
          </a:bodyPr>
          <a:lstStyle/>
          <a:p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三、外部名單規則</a:t>
            </a:r>
          </a:p>
        </p:txBody>
      </p:sp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74904D41-789C-FE80-ACB8-5AD60614F3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9898644"/>
              </p:ext>
            </p:extLst>
          </p:nvPr>
        </p:nvGraphicFramePr>
        <p:xfrm>
          <a:off x="463733" y="832955"/>
          <a:ext cx="11143767" cy="5729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3299">
                  <a:extLst>
                    <a:ext uri="{9D8B030D-6E8A-4147-A177-3AD203B41FA5}">
                      <a16:colId xmlns:a16="http://schemas.microsoft.com/office/drawing/2014/main" val="1126279656"/>
                    </a:ext>
                  </a:extLst>
                </a:gridCol>
                <a:gridCol w="4150705">
                  <a:extLst>
                    <a:ext uri="{9D8B030D-6E8A-4147-A177-3AD203B41FA5}">
                      <a16:colId xmlns:a16="http://schemas.microsoft.com/office/drawing/2014/main" val="1407444327"/>
                    </a:ext>
                  </a:extLst>
                </a:gridCol>
                <a:gridCol w="4819763">
                  <a:extLst>
                    <a:ext uri="{9D8B030D-6E8A-4147-A177-3AD203B41FA5}">
                      <a16:colId xmlns:a16="http://schemas.microsoft.com/office/drawing/2014/main" val="1366370425"/>
                    </a:ext>
                  </a:extLst>
                </a:gridCol>
              </a:tblGrid>
              <a:tr h="9253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項目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規則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備註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7318474"/>
                  </a:ext>
                </a:extLst>
              </a:tr>
              <a:tr h="1103058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作服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CR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維繫名單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00" b="0" strike="noStrike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客戶來電要作中結試算時，會後送名單給廣宣組人員撥打，挽留客戶</a:t>
                      </a:r>
                      <a:endParaRPr lang="zh-TW" altLang="en-US" sz="1200" b="1" strike="sngStrike" dirty="0">
                        <a:solidFill>
                          <a:srgbClr val="FF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00" b="0" strike="noStrike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若該客戶當時有案件在和潤，且案件狀態處在「申請」、「徵信」、「審核</a:t>
                      </a:r>
                      <a:r>
                        <a:rPr lang="zh-TW" altLang="en-US" sz="1200" b="0" strike="noStrike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（可能是</a:t>
                      </a:r>
                      <a:r>
                        <a:rPr lang="en-US" altLang="zh-TW" sz="1200" b="0" strike="noStrike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AO</a:t>
                      </a:r>
                      <a:r>
                        <a:rPr lang="zh-TW" altLang="en-US" sz="1200" b="0" strike="noStrike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自審）</a:t>
                      </a:r>
                      <a:r>
                        <a:rPr lang="zh-TW" altLang="en-US" sz="1200" b="0" strike="noStrike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」、「分處撥款」，就不會後送</a:t>
                      </a:r>
                      <a:endParaRPr lang="en-US" altLang="zh-TW" sz="1200" b="0" strike="noStrike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9713734"/>
                  </a:ext>
                </a:extLst>
              </a:tr>
              <a:tr h="9253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信審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CR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維繫名單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00" b="0" strike="noStrike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客戶在同業申貸時，同業信審會來照會我們信審。信審會透過</a:t>
                      </a:r>
                      <a:r>
                        <a:rPr lang="en-US" altLang="zh-TW" sz="1200" b="0" strike="noStrike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Smart-Query</a:t>
                      </a:r>
                      <a:r>
                        <a:rPr lang="zh-TW" altLang="en-US" sz="1200" b="0" strike="noStrike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將資訊</a:t>
                      </a:r>
                      <a:r>
                        <a:rPr lang="en-US" altLang="zh-TW" sz="1200" b="0" strike="noStrike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pass</a:t>
                      </a:r>
                      <a:r>
                        <a:rPr lang="zh-TW" altLang="en-US" sz="1200" b="0" strike="noStrike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給廣宣組人員，挽留客戶</a:t>
                      </a:r>
                      <a:endParaRPr lang="zh-TW" altLang="en-US" sz="1200" b="1" strike="sngStrike" dirty="0">
                        <a:solidFill>
                          <a:srgbClr val="FF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altLang="zh-TW" sz="1200" b="0" strike="noStrike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1731048"/>
                  </a:ext>
                </a:extLst>
              </a:tr>
              <a:tr h="9253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作服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0800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貸款需求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客戶撥打至作服電話說有貸款需求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or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客戶打電話進公司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依序分派，或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沒空就交給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聯絡）</a:t>
                      </a:r>
                      <a:r>
                        <a:rPr lang="zh-TW" altLang="en-US" sz="1200" dirty="0">
                          <a:highlight>
                            <a:srgbClr val="FFFF00"/>
                          </a:highlight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自動尋線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會依照該客戶是否為有效名單分派至不同位置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l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若名單在汽車組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機車組人員身上，則會寄信給該人員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l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若不是有效的名單，則派給廣宣組人員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1225319"/>
                  </a:ext>
                </a:extLst>
              </a:tr>
              <a:tr h="9253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線上客服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(CAMI)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透過官網→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[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申辦諮詢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]</a:t>
                      </a:r>
                      <a:b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交由該時段值班的廣宣人員聯絡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0707875"/>
                  </a:ext>
                </a:extLst>
              </a:tr>
              <a:tr h="9253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輕鬆付貸款申請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透過輕鬆付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APP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28083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4386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24BE30-6319-AD55-434F-08C34449C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732" y="269333"/>
            <a:ext cx="4428307" cy="566692"/>
          </a:xfrm>
        </p:spPr>
        <p:txBody>
          <a:bodyPr>
            <a:normAutofit fontScale="90000"/>
          </a:bodyPr>
          <a:lstStyle/>
          <a:p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三、外部名單規則</a:t>
            </a:r>
          </a:p>
        </p:txBody>
      </p:sp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74904D41-789C-FE80-ACB8-5AD60614F3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6250690"/>
              </p:ext>
            </p:extLst>
          </p:nvPr>
        </p:nvGraphicFramePr>
        <p:xfrm>
          <a:off x="463732" y="1115650"/>
          <a:ext cx="11143767" cy="4626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3299">
                  <a:extLst>
                    <a:ext uri="{9D8B030D-6E8A-4147-A177-3AD203B41FA5}">
                      <a16:colId xmlns:a16="http://schemas.microsoft.com/office/drawing/2014/main" val="1126279656"/>
                    </a:ext>
                  </a:extLst>
                </a:gridCol>
                <a:gridCol w="4150705">
                  <a:extLst>
                    <a:ext uri="{9D8B030D-6E8A-4147-A177-3AD203B41FA5}">
                      <a16:colId xmlns:a16="http://schemas.microsoft.com/office/drawing/2014/main" val="1407444327"/>
                    </a:ext>
                  </a:extLst>
                </a:gridCol>
                <a:gridCol w="4819763">
                  <a:extLst>
                    <a:ext uri="{9D8B030D-6E8A-4147-A177-3AD203B41FA5}">
                      <a16:colId xmlns:a16="http://schemas.microsoft.com/office/drawing/2014/main" val="1366370425"/>
                    </a:ext>
                  </a:extLst>
                </a:gridCol>
              </a:tblGrid>
              <a:tr h="9253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項目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規則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備註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7318474"/>
                  </a:ext>
                </a:extLst>
              </a:tr>
              <a:tr h="9253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LINE@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00" b="0" strike="noStrike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個人官方</a:t>
                      </a:r>
                      <a:r>
                        <a:rPr lang="en-US" altLang="zh-TW" sz="1200" b="0" strike="noStrike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LINE</a:t>
                      </a:r>
                      <a:endParaRPr lang="zh-TW" altLang="en-US" sz="1200" b="0" strike="noStrike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【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綁定別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CUSTOMER】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：</a:t>
                      </a:r>
                    </a:p>
                    <a:p>
                      <a:pPr rtl="0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點擊業務寄出的和潤電銷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LINE@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綁定連結→綁定</a:t>
                      </a:r>
                    </a:p>
                    <a:p>
                      <a:pPr rtl="0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2.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和潤官方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LINE@→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諮詢申辦→綁定業務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1731048"/>
                  </a:ext>
                </a:extLst>
              </a:tr>
              <a:tr h="9253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LINE@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行銷客戶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00" b="0" strike="noStrike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客戶藉由官方</a:t>
                      </a:r>
                      <a:r>
                        <a:rPr lang="en-US" altLang="zh-TW" sz="1200" b="0" strike="noStrike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LINE</a:t>
                      </a:r>
                      <a:r>
                        <a:rPr lang="zh-TW" altLang="en-US" sz="1200" b="0" strike="noStrike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進入並選擇綁訂某電銷人員，且電銷需要在</a:t>
                      </a:r>
                      <a:r>
                        <a:rPr lang="en-US" altLang="zh-TW" sz="1200" b="0" strike="noStrike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LINE</a:t>
                      </a:r>
                      <a:r>
                        <a:rPr lang="zh-TW" altLang="en-US" sz="1200" b="0" strike="noStrike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的頁面上維護客戶資訊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【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綁定別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MKT】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：</a:t>
                      </a:r>
                    </a:p>
                    <a:p>
                      <a:pPr rtl="0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和潤官方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LINE@→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諮詢申辦→綁定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LINE@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跳出的值班業務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rtl="0"/>
                      <a:r>
                        <a:rPr lang="en-US" altLang="zh-TW" sz="1200" b="0" strike="noStrike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75</a:t>
                      </a:r>
                      <a:r>
                        <a:rPr lang="zh-TW" altLang="en-US" sz="1200" b="0" strike="noStrike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天後會自動解綁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1225319"/>
                  </a:ext>
                </a:extLst>
              </a:tr>
              <a:tr h="9253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官網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00" b="0" strike="noStrike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透過官網→</a:t>
                      </a:r>
                      <a:r>
                        <a:rPr lang="en-US" altLang="zh-TW" sz="1200" b="0" strike="noStrike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[</a:t>
                      </a:r>
                      <a:r>
                        <a:rPr lang="zh-TW" altLang="en-US" sz="1200" b="0" strike="noStrike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聯絡我們</a:t>
                      </a:r>
                      <a:r>
                        <a:rPr lang="en-US" altLang="zh-TW" sz="1200" b="0" strike="noStrike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]</a:t>
                      </a:r>
                      <a:endParaRPr lang="zh-TW" altLang="en-US" sz="1200" b="0" strike="noStrike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zh-TW" altLang="en-US" sz="1200" b="0" strike="noStrike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0707875"/>
                  </a:ext>
                </a:extLst>
              </a:tr>
              <a:tr h="9253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舊客回找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00" b="0" strike="noStrike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電銷自</a:t>
                      </a:r>
                      <a:r>
                        <a:rPr lang="en-US" altLang="zh-TW" sz="1200" b="0" strike="noStrike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Key</a:t>
                      </a:r>
                      <a:endParaRPr lang="zh-TW" altLang="en-US" sz="1200" b="0" strike="noStrike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zh-TW" altLang="en-US" sz="1200" b="0" strike="noStrike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40646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6128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24BE30-6319-AD55-434F-08C34449C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733" y="269332"/>
            <a:ext cx="1218763" cy="3854611"/>
          </a:xfrm>
        </p:spPr>
        <p:txBody>
          <a:bodyPr vert="eaVert">
            <a:normAutofit/>
          </a:bodyPr>
          <a:lstStyle/>
          <a:p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四、外部名單來源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7630492-E900-4AB5-722E-69716136E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097" y="0"/>
            <a:ext cx="65058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132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24BE30-6319-AD55-434F-08C34449C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068" y="176966"/>
            <a:ext cx="7937428" cy="566692"/>
          </a:xfrm>
        </p:spPr>
        <p:txBody>
          <a:bodyPr>
            <a:normAutofit fontScale="90000"/>
          </a:bodyPr>
          <a:lstStyle/>
          <a:p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五、名單種類</a:t>
            </a:r>
          </a:p>
        </p:txBody>
      </p:sp>
      <p:graphicFrame>
        <p:nvGraphicFramePr>
          <p:cNvPr id="5" name="內容版面配置區 4">
            <a:extLst>
              <a:ext uri="{FF2B5EF4-FFF2-40B4-BE49-F238E27FC236}">
                <a16:creationId xmlns:a16="http://schemas.microsoft.com/office/drawing/2014/main" id="{115195BB-E9A6-BE85-2CEE-1ED990EB05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8979440"/>
              </p:ext>
            </p:extLst>
          </p:nvPr>
        </p:nvGraphicFramePr>
        <p:xfrm>
          <a:off x="603068" y="836025"/>
          <a:ext cx="6621471" cy="3338808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1099175">
                  <a:extLst>
                    <a:ext uri="{9D8B030D-6E8A-4147-A177-3AD203B41FA5}">
                      <a16:colId xmlns:a16="http://schemas.microsoft.com/office/drawing/2014/main" val="1191483229"/>
                    </a:ext>
                  </a:extLst>
                </a:gridCol>
                <a:gridCol w="1506081">
                  <a:extLst>
                    <a:ext uri="{9D8B030D-6E8A-4147-A177-3AD203B41FA5}">
                      <a16:colId xmlns:a16="http://schemas.microsoft.com/office/drawing/2014/main" val="3335127912"/>
                    </a:ext>
                  </a:extLst>
                </a:gridCol>
                <a:gridCol w="1141451">
                  <a:extLst>
                    <a:ext uri="{9D8B030D-6E8A-4147-A177-3AD203B41FA5}">
                      <a16:colId xmlns:a16="http://schemas.microsoft.com/office/drawing/2014/main" val="1236622141"/>
                    </a:ext>
                  </a:extLst>
                </a:gridCol>
                <a:gridCol w="1685265">
                  <a:extLst>
                    <a:ext uri="{9D8B030D-6E8A-4147-A177-3AD203B41FA5}">
                      <a16:colId xmlns:a16="http://schemas.microsoft.com/office/drawing/2014/main" val="3404549921"/>
                    </a:ext>
                  </a:extLst>
                </a:gridCol>
                <a:gridCol w="1189499">
                  <a:extLst>
                    <a:ext uri="{9D8B030D-6E8A-4147-A177-3AD203B41FA5}">
                      <a16:colId xmlns:a16="http://schemas.microsoft.com/office/drawing/2014/main" val="2410835224"/>
                    </a:ext>
                  </a:extLst>
                </a:gridCol>
              </a:tblGrid>
              <a:tr h="278234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0" u="none" strike="no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產品別</a:t>
                      </a:r>
                      <a:endParaRPr lang="zh-TW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0" u="none" strike="noStrike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名單分類</a:t>
                      </a:r>
                      <a:endParaRPr lang="zh-TW" altLang="en-US" sz="1400" b="0" i="0" u="none" strike="noStrike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0" u="none" strike="noStrike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區間</a:t>
                      </a:r>
                      <a:endParaRPr lang="zh-TW" altLang="en-US" sz="1400" b="0" i="0" u="none" strike="noStrike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起始派發期數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名單間隔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72707328"/>
                  </a:ext>
                </a:extLst>
              </a:tr>
              <a:tr h="278234"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0" u="none" strike="no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汽車</a:t>
                      </a:r>
                      <a:endParaRPr lang="zh-TW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0" u="none" strike="no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期中</a:t>
                      </a:r>
                      <a:endParaRPr lang="zh-TW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本新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u="none" strike="no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12</a:t>
                      </a:r>
                      <a:r>
                        <a:rPr lang="zh-TW" altLang="en-US" sz="1400" b="0" u="none" strike="no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期</a:t>
                      </a:r>
                      <a:endParaRPr lang="en-US" sz="1400" b="0" i="0" u="none" strike="noStrike" dirty="0"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u="none" strike="no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4</a:t>
                      </a:r>
                      <a:r>
                        <a:rPr lang="zh-TW" altLang="en-US" sz="1400" b="0" u="none" strike="no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個月</a:t>
                      </a:r>
                      <a:endParaRPr lang="en-US" sz="1400" b="0" i="0" u="none" strike="noStrike" dirty="0"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33012012"/>
                  </a:ext>
                </a:extLst>
              </a:tr>
              <a:tr h="27823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非本新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u="none" strike="no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8</a:t>
                      </a:r>
                      <a:r>
                        <a:rPr lang="zh-TW" altLang="en-US" sz="1400" b="0" u="none" strike="no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期</a:t>
                      </a:r>
                      <a:endParaRPr lang="en-US" sz="1400" b="0" i="0" u="none" strike="noStrike" dirty="0"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u="none" strike="no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4</a:t>
                      </a:r>
                      <a:r>
                        <a:rPr lang="zh-TW" altLang="en-US" sz="1400" b="0" u="none" strike="no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個月</a:t>
                      </a:r>
                      <a:endParaRPr lang="en-US" altLang="zh-TW" sz="1400" b="0" i="0" u="none" strike="noStrike" dirty="0"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07958259"/>
                  </a:ext>
                </a:extLst>
              </a:tr>
              <a:tr h="27823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0" u="none" strike="no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中結</a:t>
                      </a:r>
                      <a:endParaRPr lang="zh-TW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u="none" strike="no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5</a:t>
                      </a:r>
                      <a:r>
                        <a:rPr lang="zh-TW" altLang="en-US" sz="1400" b="0" u="none" strike="no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年以內</a:t>
                      </a:r>
                      <a:endParaRPr lang="zh-TW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0" u="none" strike="no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中結後</a:t>
                      </a:r>
                      <a:r>
                        <a:rPr lang="en-US" altLang="zh-TW" sz="1400" b="0" u="none" strike="no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8</a:t>
                      </a:r>
                      <a:r>
                        <a:rPr lang="zh-TW" altLang="en-US" sz="1400" b="0" u="none" strike="no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個月</a:t>
                      </a:r>
                      <a:endParaRPr lang="en-US" altLang="zh-TW" sz="1400" b="0" i="0" u="none" strike="noStrike" dirty="0"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u="none" strike="no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4</a:t>
                      </a:r>
                      <a:r>
                        <a:rPr lang="zh-TW" altLang="en-US" sz="1400" b="0" u="none" strike="no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個月</a:t>
                      </a:r>
                      <a:endParaRPr lang="en-US" altLang="zh-TW" sz="1400" b="0" i="0" u="none" strike="noStrike" dirty="0"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16940537"/>
                  </a:ext>
                </a:extLst>
              </a:tr>
              <a:tr h="27823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u="none" strike="no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5</a:t>
                      </a:r>
                      <a:r>
                        <a:rPr lang="zh-TW" altLang="en-US" sz="1400" b="0" u="none" strike="no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年以上</a:t>
                      </a:r>
                      <a:endParaRPr lang="zh-TW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0" u="none" strike="no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中結後</a:t>
                      </a:r>
                      <a:r>
                        <a:rPr lang="en-US" altLang="zh-TW" sz="1400" b="0" u="none" strike="no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64</a:t>
                      </a:r>
                      <a:r>
                        <a:rPr lang="zh-TW" altLang="en-US" sz="1400" b="0" u="none" strike="no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個月</a:t>
                      </a:r>
                      <a:endParaRPr lang="en-US" altLang="zh-TW" sz="1400" b="0" i="0" u="none" strike="noStrike" dirty="0"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u="none" strike="no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4</a:t>
                      </a:r>
                      <a:r>
                        <a:rPr lang="zh-TW" altLang="en-US" sz="1400" b="0" u="none" strike="no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個月</a:t>
                      </a:r>
                      <a:endParaRPr lang="en-US" altLang="zh-TW" sz="1400" b="0" i="0" u="none" strike="noStrike" dirty="0"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59996659"/>
                  </a:ext>
                </a:extLst>
              </a:tr>
              <a:tr h="27823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0" u="none" strike="no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滿期</a:t>
                      </a:r>
                      <a:endParaRPr lang="zh-TW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u="none" strike="no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3</a:t>
                      </a:r>
                      <a:r>
                        <a:rPr lang="zh-TW" altLang="en-US" sz="1400" b="0" u="none" strike="no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年以內</a:t>
                      </a:r>
                      <a:endParaRPr lang="zh-TW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0" u="none" strike="no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滿期當月</a:t>
                      </a:r>
                      <a:endParaRPr lang="en-US" sz="1400" b="0" i="0" u="none" strike="noStrike" dirty="0"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u="none" strike="no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4</a:t>
                      </a:r>
                      <a:r>
                        <a:rPr lang="zh-TW" altLang="en-US" sz="1400" b="0" u="none" strike="no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個月</a:t>
                      </a:r>
                      <a:endParaRPr lang="en-US" altLang="zh-TW" sz="1400" b="0" i="0" u="none" strike="noStrike" dirty="0"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38286438"/>
                  </a:ext>
                </a:extLst>
              </a:tr>
              <a:tr h="27823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u="none" strike="no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3</a:t>
                      </a:r>
                      <a:r>
                        <a:rPr lang="zh-TW" altLang="en-US" sz="1400" b="0" u="none" strike="no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年以上</a:t>
                      </a:r>
                      <a:endParaRPr lang="zh-TW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0" u="none" strike="no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滿期後</a:t>
                      </a:r>
                      <a:r>
                        <a:rPr lang="en-US" altLang="zh-TW" sz="1400" b="0" u="none" strike="noStrike" dirty="0">
                          <a:solidFill>
                            <a:srgbClr val="FF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40</a:t>
                      </a:r>
                      <a:r>
                        <a:rPr lang="zh-TW" altLang="en-US" sz="1400" b="0" u="none" strike="noStrike" dirty="0">
                          <a:solidFill>
                            <a:srgbClr val="FF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個月</a:t>
                      </a:r>
                      <a:endParaRPr lang="en-US" altLang="zh-TW" sz="1400" b="0" i="0" u="none" strike="noStrike" dirty="0">
                        <a:solidFill>
                          <a:srgbClr val="FF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u="none" strike="no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4</a:t>
                      </a:r>
                      <a:r>
                        <a:rPr lang="zh-TW" altLang="en-US" sz="1400" b="0" u="none" strike="no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個月</a:t>
                      </a:r>
                      <a:endParaRPr lang="en-US" altLang="zh-TW" sz="1400" b="0" i="0" u="none" strike="noStrike" dirty="0"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10608946"/>
                  </a:ext>
                </a:extLst>
              </a:tr>
              <a:tr h="278234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0" u="none" strike="no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機車</a:t>
                      </a:r>
                      <a:endParaRPr lang="zh-TW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0" u="none" strike="noStrike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期中</a:t>
                      </a:r>
                      <a:endParaRPr lang="zh-TW" altLang="en-US" sz="1400" b="0" i="0" u="none" strike="noStrike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u="none" strike="noStrike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-</a:t>
                      </a:r>
                      <a:endParaRPr lang="en-US" altLang="zh-TW" sz="1400" b="0" i="0" u="none" strike="noStrike"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u="none" strike="sngStrike" dirty="0">
                          <a:solidFill>
                            <a:schemeClr val="tx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6</a:t>
                      </a:r>
                      <a:r>
                        <a:rPr lang="zh-TW" altLang="en-US" sz="1400" b="0" u="none" strike="sngStrike" dirty="0">
                          <a:solidFill>
                            <a:schemeClr val="tx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期</a:t>
                      </a:r>
                      <a:r>
                        <a:rPr lang="en-US" altLang="zh-TW" sz="1400" b="0" u="none" strike="noStrike" dirty="0">
                          <a:solidFill>
                            <a:srgbClr val="FF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18</a:t>
                      </a:r>
                      <a:r>
                        <a:rPr lang="zh-TW" altLang="en-US" sz="1400" b="0" u="none" strike="noStrike" dirty="0">
                          <a:solidFill>
                            <a:srgbClr val="FF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期</a:t>
                      </a:r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u="none" strike="no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4</a:t>
                      </a:r>
                      <a:r>
                        <a:rPr lang="zh-TW" altLang="en-US" sz="1400" b="0" u="none" strike="no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個月</a:t>
                      </a:r>
                      <a:endParaRPr lang="en-US" altLang="zh-TW" sz="1400" b="0" i="0" u="none" strike="noStrike" dirty="0"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26701316"/>
                  </a:ext>
                </a:extLst>
              </a:tr>
              <a:tr h="27823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0" u="none" strike="sng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中結</a:t>
                      </a:r>
                      <a:r>
                        <a:rPr lang="en-US" altLang="zh-TW" sz="1400" b="0" u="none" strike="sng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&amp;</a:t>
                      </a:r>
                      <a:r>
                        <a:rPr lang="zh-TW" altLang="en-US" sz="1400" b="0" u="none" strike="sng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滿期</a:t>
                      </a:r>
                      <a:endParaRPr lang="zh-TW" altLang="en-US" sz="1400" b="0" i="0" u="none" strike="sngStrike" dirty="0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u="none" strike="sng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5</a:t>
                      </a:r>
                      <a:r>
                        <a:rPr lang="zh-TW" altLang="en-US" sz="1400" b="0" u="none" strike="sng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年以內</a:t>
                      </a:r>
                      <a:endParaRPr lang="zh-TW" altLang="en-US" sz="1400" b="0" i="0" u="none" strike="sngStrike" dirty="0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0" u="none" strike="sng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中結</a:t>
                      </a:r>
                      <a:r>
                        <a:rPr lang="en-US" altLang="zh-TW" sz="1400" b="0" u="none" strike="sng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/</a:t>
                      </a:r>
                      <a:r>
                        <a:rPr lang="zh-TW" altLang="en-US" sz="1400" b="0" u="none" strike="sng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滿期當月</a:t>
                      </a:r>
                      <a:endParaRPr lang="en-US" altLang="zh-TW" sz="1400" b="0" i="0" u="none" strike="sngStrike" dirty="0"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u="none" strike="sng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6</a:t>
                      </a:r>
                      <a:r>
                        <a:rPr lang="zh-TW" altLang="en-US" sz="1400" b="0" u="none" strike="sng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個月</a:t>
                      </a:r>
                      <a:r>
                        <a:rPr lang="en-US" altLang="zh-TW" sz="1400" b="0" u="none" strike="sng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4</a:t>
                      </a:r>
                      <a:r>
                        <a:rPr lang="zh-TW" altLang="en-US" sz="1400" b="0" u="none" strike="sng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個月</a:t>
                      </a:r>
                      <a:endParaRPr lang="en-US" altLang="zh-TW" sz="1400" b="0" i="0" u="none" strike="sngStrike" dirty="0"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59379129"/>
                  </a:ext>
                </a:extLst>
              </a:tr>
              <a:tr h="27823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u="none" strike="sngStrike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5</a:t>
                      </a:r>
                      <a:r>
                        <a:rPr lang="zh-TW" altLang="en-US" sz="1400" b="0" u="none" strike="sngStrike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年以上</a:t>
                      </a:r>
                      <a:endParaRPr lang="zh-TW" altLang="en-US" sz="1400" b="0" i="0" u="none" strike="sngStrike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0" u="none" strike="sng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中結</a:t>
                      </a:r>
                      <a:r>
                        <a:rPr lang="en-US" altLang="zh-TW" sz="1400" b="0" u="none" strike="sng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/</a:t>
                      </a:r>
                      <a:r>
                        <a:rPr lang="zh-TW" altLang="en-US" sz="1400" b="0" u="none" strike="sng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滿期後</a:t>
                      </a:r>
                      <a:r>
                        <a:rPr lang="en-US" altLang="zh-TW" sz="1400" b="0" u="none" strike="sng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64</a:t>
                      </a:r>
                      <a:r>
                        <a:rPr lang="zh-TW" altLang="en-US" sz="1400" b="0" u="none" strike="sng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個月</a:t>
                      </a:r>
                      <a:endParaRPr lang="en-US" altLang="zh-TW" sz="1400" b="0" i="0" u="none" strike="sngStrike" dirty="0"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u="none" strike="sng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6</a:t>
                      </a:r>
                      <a:r>
                        <a:rPr lang="zh-TW" altLang="en-US" sz="1400" b="0" u="none" strike="sng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個月</a:t>
                      </a:r>
                      <a:r>
                        <a:rPr lang="en-US" altLang="zh-TW" sz="1400" b="0" u="none" strike="sng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4</a:t>
                      </a:r>
                      <a:r>
                        <a:rPr lang="zh-TW" altLang="en-US" sz="1400" b="0" u="none" strike="sng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個月</a:t>
                      </a:r>
                      <a:endParaRPr lang="en-US" altLang="zh-TW" sz="1400" b="0" i="0" u="none" strike="sngStrike" dirty="0"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88476769"/>
                  </a:ext>
                </a:extLst>
              </a:tr>
              <a:tr h="27823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0" u="none" strike="noStrike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商品</a:t>
                      </a:r>
                      <a:endParaRPr lang="zh-TW" altLang="en-US" sz="1400" b="0" i="0" u="none" strike="noStrike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0" u="none" strike="sng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期中</a:t>
                      </a:r>
                      <a:endParaRPr lang="zh-TW" altLang="en-US" sz="1400" b="0" i="0" u="none" strike="sngStrike" dirty="0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u="none" strike="sng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-</a:t>
                      </a:r>
                      <a:endParaRPr lang="en-US" altLang="zh-TW" sz="1400" b="0" i="0" u="none" strike="sngStrike" dirty="0"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u="none" strike="sng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6</a:t>
                      </a:r>
                      <a:r>
                        <a:rPr lang="zh-TW" altLang="en-US" sz="1400" b="0" u="none" strike="sng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期</a:t>
                      </a:r>
                      <a:endParaRPr lang="en-US" altLang="zh-TW" sz="1400" b="0" i="0" u="none" strike="sngStrike" dirty="0"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u="none" strike="sng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4</a:t>
                      </a:r>
                      <a:r>
                        <a:rPr lang="zh-TW" altLang="en-US" sz="1400" b="0" u="none" strike="sng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個月</a:t>
                      </a:r>
                      <a:endParaRPr lang="en-US" altLang="zh-TW" sz="1400" b="0" i="0" u="none" strike="sngStrike" dirty="0"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07091888"/>
                  </a:ext>
                </a:extLst>
              </a:tr>
              <a:tr h="27823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0" u="none" strike="sng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中結</a:t>
                      </a:r>
                      <a:r>
                        <a:rPr lang="en-US" altLang="zh-TW" sz="1400" b="0" u="none" strike="sng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&amp;</a:t>
                      </a:r>
                      <a:r>
                        <a:rPr lang="zh-TW" altLang="en-US" sz="1400" b="0" u="none" strike="sng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滿期</a:t>
                      </a:r>
                      <a:endParaRPr lang="zh-TW" altLang="en-US" sz="1400" b="0" i="0" u="none" strike="sngStrike" dirty="0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u="none" strike="sngStrike" dirty="0">
                          <a:solidFill>
                            <a:srgbClr val="FF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5</a:t>
                      </a:r>
                      <a:r>
                        <a:rPr lang="zh-TW" altLang="en-US" sz="1400" b="0" u="none" strike="sngStrike" dirty="0">
                          <a:solidFill>
                            <a:srgbClr val="FF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年以內</a:t>
                      </a:r>
                      <a:endParaRPr lang="zh-TW" altLang="en-US" sz="1400" b="0" i="0" u="none" strike="sngStrike" dirty="0">
                        <a:solidFill>
                          <a:srgbClr val="FF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0" u="none" strike="sng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滿期當月</a:t>
                      </a:r>
                      <a:endParaRPr lang="en-US" altLang="zh-TW" sz="1400" b="0" i="0" u="none" strike="sngStrike" dirty="0"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u="none" strike="sng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4</a:t>
                      </a:r>
                      <a:r>
                        <a:rPr lang="zh-TW" altLang="en-US" sz="1400" b="0" u="none" strike="sngStrike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個月</a:t>
                      </a:r>
                      <a:endParaRPr lang="en-US" altLang="zh-TW" sz="1400" b="0" i="0" u="none" strike="sngStrike" dirty="0"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61430022"/>
                  </a:ext>
                </a:extLst>
              </a:tr>
            </a:tbl>
          </a:graphicData>
        </a:graphic>
      </p:graphicFrame>
      <p:sp>
        <p:nvSpPr>
          <p:cNvPr id="3" name="文字方塊 2">
            <a:extLst>
              <a:ext uri="{FF2B5EF4-FFF2-40B4-BE49-F238E27FC236}">
                <a16:creationId xmlns:a16="http://schemas.microsoft.com/office/drawing/2014/main" id="{4A2D9545-E1C2-25CA-AE7B-66403E502B18}"/>
              </a:ext>
            </a:extLst>
          </p:cNvPr>
          <p:cNvSpPr txBox="1"/>
          <p:nvPr/>
        </p:nvSpPr>
        <p:spPr>
          <a:xfrm>
            <a:off x="7224538" y="1745541"/>
            <a:ext cx="48661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反守為攻名單為第</a:t>
            </a:r>
            <a:r>
              <a:rPr lang="en-US" altLang="zh-TW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7</a:t>
            </a:r>
            <a:r>
              <a:rPr lang="zh-TW" altLang="en-US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期開始派發，原因是先前營業單位表示</a:t>
            </a:r>
            <a:r>
              <a:rPr lang="en-US" altLang="zh-TW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OA</a:t>
            </a:r>
            <a:r>
              <a:rPr lang="zh-TW" altLang="en-US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</a:t>
            </a:r>
            <a:r>
              <a:rPr lang="zh-TW" altLang="en-US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期就開始</a:t>
            </a:r>
            <a:r>
              <a:rPr lang="en-US" altLang="zh-TW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call</a:t>
            </a:r>
            <a:r>
              <a:rPr lang="zh-TW" altLang="en-US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，故提早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7F7B6F3-D166-F2B9-736D-FEE06F490CEB}"/>
              </a:ext>
            </a:extLst>
          </p:cNvPr>
          <p:cNvSpPr txBox="1"/>
          <p:nvPr/>
        </p:nvSpPr>
        <p:spPr>
          <a:xfrm>
            <a:off x="7224538" y="3053722"/>
            <a:ext cx="486611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2023</a:t>
            </a:r>
            <a:r>
              <a:rPr lang="zh-TW" altLang="en-US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年</a:t>
            </a:r>
            <a:r>
              <a:rPr lang="en-US" altLang="zh-TW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8</a:t>
            </a:r>
            <a:r>
              <a:rPr lang="zh-TW" altLang="en-US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月起的機車中結滿期分派名單調整間隔為</a:t>
            </a:r>
            <a:r>
              <a:rPr lang="en-US" altLang="zh-TW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</a:t>
            </a:r>
            <a:r>
              <a:rPr lang="zh-TW" altLang="en-US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個月</a:t>
            </a:r>
            <a:endParaRPr lang="en-US" altLang="zh-TW" sz="12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en-US" altLang="zh-TW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2024</a:t>
            </a:r>
            <a:r>
              <a:rPr lang="zh-TW" altLang="en-US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年</a:t>
            </a:r>
            <a:r>
              <a:rPr lang="en-US" altLang="zh-TW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</a:t>
            </a:r>
            <a:r>
              <a:rPr lang="zh-TW" altLang="en-US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月機車期中分派期數改為</a:t>
            </a:r>
            <a:r>
              <a:rPr lang="en-US" altLang="zh-TW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14</a:t>
            </a:r>
            <a:r>
              <a:rPr lang="zh-TW" altLang="en-US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期</a:t>
            </a:r>
            <a:endParaRPr lang="en-US" altLang="zh-TW" sz="12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en-US" altLang="zh-TW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2024</a:t>
            </a:r>
            <a:r>
              <a:rPr lang="zh-TW" altLang="en-US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年</a:t>
            </a:r>
            <a:r>
              <a:rPr lang="en-US" altLang="zh-TW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7</a:t>
            </a:r>
            <a:r>
              <a:rPr lang="zh-TW" altLang="en-US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月機車期中分派期數改為</a:t>
            </a:r>
            <a:r>
              <a:rPr lang="en-US" altLang="zh-TW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18</a:t>
            </a:r>
            <a:r>
              <a:rPr lang="zh-TW" altLang="en-US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期</a:t>
            </a:r>
            <a:endParaRPr lang="en-US" altLang="zh-TW" sz="12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endParaRPr lang="en-US" altLang="zh-TW" sz="12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zh-TW" altLang="en-US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機車中結滿期</a:t>
            </a:r>
            <a:r>
              <a:rPr lang="en-US" altLang="zh-TW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2024</a:t>
            </a:r>
            <a:r>
              <a:rPr lang="zh-TW" altLang="en-US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年</a:t>
            </a:r>
            <a:r>
              <a:rPr lang="en-US" altLang="zh-TW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8</a:t>
            </a:r>
            <a:r>
              <a:rPr lang="zh-TW" altLang="en-US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月取消發放</a:t>
            </a:r>
            <a:endParaRPr lang="en-US" altLang="zh-TW" sz="12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zh-TW" altLang="en-US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商品期中、中結滿期 </a:t>
            </a:r>
            <a:r>
              <a:rPr lang="en-US" altLang="zh-TW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2024</a:t>
            </a:r>
            <a:r>
              <a:rPr lang="zh-TW" altLang="en-US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年</a:t>
            </a:r>
            <a:r>
              <a:rPr lang="en-US" altLang="zh-TW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8</a:t>
            </a:r>
            <a:r>
              <a:rPr lang="zh-TW" altLang="en-US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月取消發放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4EF6EF1E-56BC-9C4C-2B6C-433D46F8A8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1229895"/>
              </p:ext>
            </p:extLst>
          </p:nvPr>
        </p:nvGraphicFramePr>
        <p:xfrm>
          <a:off x="603068" y="4267200"/>
          <a:ext cx="8198511" cy="2590800"/>
        </p:xfrm>
        <a:graphic>
          <a:graphicData uri="http://schemas.openxmlformats.org/drawingml/2006/table">
            <a:tbl>
              <a:tblPr/>
              <a:tblGrid>
                <a:gridCol w="2152498">
                  <a:extLst>
                    <a:ext uri="{9D8B030D-6E8A-4147-A177-3AD203B41FA5}">
                      <a16:colId xmlns:a16="http://schemas.microsoft.com/office/drawing/2014/main" val="3417374260"/>
                    </a:ext>
                  </a:extLst>
                </a:gridCol>
                <a:gridCol w="2086661">
                  <a:extLst>
                    <a:ext uri="{9D8B030D-6E8A-4147-A177-3AD203B41FA5}">
                      <a16:colId xmlns:a16="http://schemas.microsoft.com/office/drawing/2014/main" val="3243100178"/>
                    </a:ext>
                  </a:extLst>
                </a:gridCol>
                <a:gridCol w="1810512">
                  <a:extLst>
                    <a:ext uri="{9D8B030D-6E8A-4147-A177-3AD203B41FA5}">
                      <a16:colId xmlns:a16="http://schemas.microsoft.com/office/drawing/2014/main" val="29221617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428899884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100" dirty="0">
                          <a:solidFill>
                            <a:srgbClr val="000000"/>
                          </a:solidFill>
                          <a:effectLst/>
                          <a:ea typeface="微軟正黑體" panose="020B0604030504040204" pitchFamily="34" charset="-120"/>
                        </a:rPr>
                        <a:t>分派名單名稱種類</a:t>
                      </a:r>
                      <a:endParaRPr lang="zh-TW" sz="1100" dirty="0">
                        <a:solidFill>
                          <a:srgbClr val="000000"/>
                        </a:solidFill>
                        <a:effectLst/>
                        <a:ea typeface="微軟正黑體" panose="020B0604030504040204" pitchFamily="34" charset="-12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TW" sz="1100" dirty="0">
                        <a:solidFill>
                          <a:srgbClr val="000000"/>
                        </a:solidFill>
                        <a:effectLst/>
                        <a:ea typeface="微軟正黑體" panose="020B0604030504040204" pitchFamily="34" charset="-12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TW" sz="1100" dirty="0">
                        <a:solidFill>
                          <a:srgbClr val="000000"/>
                        </a:solidFill>
                        <a:effectLst/>
                        <a:ea typeface="微軟正黑體" panose="020B0604030504040204" pitchFamily="34" charset="-12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TW" sz="1100" dirty="0">
                        <a:solidFill>
                          <a:srgbClr val="000000"/>
                        </a:solidFill>
                        <a:effectLst/>
                        <a:ea typeface="微軟正黑體" panose="020B0604030504040204" pitchFamily="34" charset="-12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02886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sz="1100" dirty="0">
                          <a:solidFill>
                            <a:srgbClr val="000000"/>
                          </a:solidFill>
                          <a:effectLst/>
                          <a:ea typeface="微軟正黑體" panose="020B0604030504040204" pitchFamily="34" charset="-120"/>
                        </a:rPr>
                        <a:t>期中-汽車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sz="1100">
                          <a:solidFill>
                            <a:srgbClr val="000000"/>
                          </a:solidFill>
                          <a:effectLst/>
                          <a:ea typeface="微軟正黑體" panose="020B0604030504040204" pitchFamily="34" charset="-120"/>
                        </a:rPr>
                        <a:t>汽車期中_他新中古-H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sz="1100">
                          <a:solidFill>
                            <a:srgbClr val="000000"/>
                          </a:solidFill>
                          <a:effectLst/>
                          <a:ea typeface="微軟正黑體" panose="020B0604030504040204" pitchFamily="34" charset="-120"/>
                        </a:rPr>
                        <a:t>汽車期中_非他新中古-H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sz="1100">
                          <a:solidFill>
                            <a:srgbClr val="000000"/>
                          </a:solidFill>
                          <a:effectLst/>
                          <a:ea typeface="微軟正黑體" panose="020B0604030504040204" pitchFamily="34" charset="-12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2299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sz="1100">
                          <a:solidFill>
                            <a:srgbClr val="000000"/>
                          </a:solidFill>
                          <a:effectLst/>
                          <a:ea typeface="微軟正黑體" panose="020B0604030504040204" pitchFamily="34" charset="-120"/>
                        </a:rPr>
                        <a:t>中結滿期-汽車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sz="1100" dirty="0">
                          <a:solidFill>
                            <a:srgbClr val="000000"/>
                          </a:solidFill>
                          <a:effectLst/>
                          <a:ea typeface="微軟正黑體" panose="020B0604030504040204" pitchFamily="34" charset="-120"/>
                        </a:rPr>
                        <a:t>汽車中結-S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sz="1100">
                          <a:solidFill>
                            <a:srgbClr val="000000"/>
                          </a:solidFill>
                          <a:effectLst/>
                          <a:ea typeface="微軟正黑體" panose="020B0604030504040204" pitchFamily="34" charset="-120"/>
                        </a:rPr>
                        <a:t>汽車滿期-E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sz="1100" dirty="0">
                          <a:solidFill>
                            <a:srgbClr val="000000"/>
                          </a:solidFill>
                          <a:effectLst/>
                          <a:ea typeface="微軟正黑體" panose="020B0604030504040204" pitchFamily="34" charset="-120"/>
                        </a:rPr>
                        <a:t>汽車中結_被他行代償反守為攻-S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05664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sz="1100" dirty="0">
                          <a:solidFill>
                            <a:srgbClr val="000000"/>
                          </a:solidFill>
                          <a:effectLst/>
                          <a:ea typeface="微軟正黑體" panose="020B0604030504040204" pitchFamily="34" charset="-120"/>
                        </a:rPr>
                        <a:t>中結滿期-汽車(中五滿三)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sz="1100" dirty="0">
                          <a:effectLst/>
                          <a:ea typeface="微軟正黑體" panose="020B0604030504040204" pitchFamily="34" charset="-120"/>
                        </a:rPr>
                        <a:t>汽車中結五年以上-S5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sz="1100" dirty="0">
                          <a:solidFill>
                            <a:srgbClr val="000000"/>
                          </a:solidFill>
                          <a:effectLst/>
                          <a:ea typeface="微軟正黑體" panose="020B0604030504040204" pitchFamily="34" charset="-120"/>
                        </a:rPr>
                        <a:t>汽車滿期三年以上-E5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sz="1100" dirty="0">
                          <a:solidFill>
                            <a:srgbClr val="000000"/>
                          </a:solidFill>
                          <a:effectLst/>
                          <a:ea typeface="微軟正黑體" panose="020B0604030504040204" pitchFamily="34" charset="-12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9527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sz="1100" dirty="0">
                          <a:solidFill>
                            <a:srgbClr val="000000"/>
                          </a:solidFill>
                          <a:effectLst/>
                          <a:ea typeface="微軟正黑體" panose="020B0604030504040204" pitchFamily="34" charset="-120"/>
                        </a:rPr>
                        <a:t>期中-機車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sz="1100" dirty="0">
                          <a:effectLst/>
                          <a:ea typeface="微軟正黑體" panose="020B0604030504040204" pitchFamily="34" charset="-120"/>
                        </a:rPr>
                        <a:t>機車期中-HM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sz="1100">
                          <a:solidFill>
                            <a:srgbClr val="000000"/>
                          </a:solidFill>
                          <a:effectLst/>
                          <a:ea typeface="微軟正黑體" panose="020B0604030504040204" pitchFamily="34" charset="-12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sz="1100">
                          <a:solidFill>
                            <a:srgbClr val="000000"/>
                          </a:solidFill>
                          <a:effectLst/>
                          <a:ea typeface="微軟正黑體" panose="020B0604030504040204" pitchFamily="34" charset="-12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80837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sz="1100" strike="sngStrike" dirty="0">
                          <a:solidFill>
                            <a:srgbClr val="000000"/>
                          </a:solidFill>
                          <a:effectLst/>
                          <a:ea typeface="微軟正黑體" panose="020B0604030504040204" pitchFamily="34" charset="-120"/>
                        </a:rPr>
                        <a:t>中結滿期-機車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sz="1100" strike="sngStrike" dirty="0">
                          <a:effectLst/>
                          <a:ea typeface="微軟正黑體" panose="020B0604030504040204" pitchFamily="34" charset="-120"/>
                        </a:rPr>
                        <a:t>機車中結滿期-M </a:t>
                      </a: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sz="1100" strike="sngStrike" dirty="0">
                          <a:effectLst/>
                          <a:ea typeface="微軟正黑體" panose="020B0604030504040204" pitchFamily="34" charset="-12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sz="1100">
                          <a:solidFill>
                            <a:srgbClr val="000000"/>
                          </a:solidFill>
                          <a:effectLst/>
                          <a:ea typeface="微軟正黑體" panose="020B0604030504040204" pitchFamily="34" charset="-12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sz="1100">
                          <a:solidFill>
                            <a:srgbClr val="000000"/>
                          </a:solidFill>
                          <a:effectLst/>
                          <a:ea typeface="微軟正黑體" panose="020B0604030504040204" pitchFamily="34" charset="-12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0369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sz="1100" strike="sngStrike" dirty="0">
                          <a:solidFill>
                            <a:srgbClr val="000000"/>
                          </a:solidFill>
                          <a:effectLst/>
                          <a:ea typeface="微軟正黑體" panose="020B0604030504040204" pitchFamily="34" charset="-120"/>
                        </a:rPr>
                        <a:t>中結滿期-機車(中五滿五)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sz="1100" strike="sngStrike" dirty="0">
                          <a:solidFill>
                            <a:srgbClr val="000000"/>
                          </a:solidFill>
                          <a:effectLst/>
                          <a:ea typeface="微軟正黑體" panose="020B0604030504040204" pitchFamily="34" charset="-120"/>
                        </a:rPr>
                        <a:t>機車中結滿期五年以上-M3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sz="1100">
                          <a:solidFill>
                            <a:srgbClr val="000000"/>
                          </a:solidFill>
                          <a:effectLst/>
                          <a:ea typeface="微軟正黑體" panose="020B0604030504040204" pitchFamily="34" charset="-12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sz="1100">
                          <a:solidFill>
                            <a:srgbClr val="000000"/>
                          </a:solidFill>
                          <a:effectLst/>
                          <a:ea typeface="微軟正黑體" panose="020B0604030504040204" pitchFamily="34" charset="-12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0372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sz="1100" strike="sngStrike" dirty="0">
                          <a:solidFill>
                            <a:srgbClr val="000000"/>
                          </a:solidFill>
                          <a:effectLst/>
                          <a:ea typeface="微軟正黑體" panose="020B0604030504040204" pitchFamily="34" charset="-120"/>
                        </a:rPr>
                        <a:t>期中-商品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sz="1100" strike="sngStrike" dirty="0">
                          <a:solidFill>
                            <a:srgbClr val="000000"/>
                          </a:solidFill>
                          <a:effectLst/>
                          <a:ea typeface="微軟正黑體" panose="020B0604030504040204" pitchFamily="34" charset="-120"/>
                        </a:rPr>
                        <a:t>商品期中-HC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sz="1100">
                          <a:solidFill>
                            <a:srgbClr val="000000"/>
                          </a:solidFill>
                          <a:effectLst/>
                          <a:ea typeface="微軟正黑體" panose="020B0604030504040204" pitchFamily="34" charset="-12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sz="1100">
                          <a:solidFill>
                            <a:srgbClr val="000000"/>
                          </a:solidFill>
                          <a:effectLst/>
                          <a:ea typeface="微軟正黑體" panose="020B0604030504040204" pitchFamily="34" charset="-12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52036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sz="1100" strike="sngStrike" dirty="0">
                          <a:solidFill>
                            <a:srgbClr val="000000"/>
                          </a:solidFill>
                          <a:effectLst/>
                          <a:ea typeface="微軟正黑體" panose="020B0604030504040204" pitchFamily="34" charset="-120"/>
                        </a:rPr>
                        <a:t>中結滿期-商品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sz="1100" strike="sngStrike" dirty="0">
                          <a:solidFill>
                            <a:srgbClr val="000000"/>
                          </a:solidFill>
                          <a:effectLst/>
                          <a:ea typeface="微軟正黑體" panose="020B0604030504040204" pitchFamily="34" charset="-120"/>
                        </a:rPr>
                        <a:t>商品中結滿期-C3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sz="1100">
                          <a:solidFill>
                            <a:srgbClr val="000000"/>
                          </a:solidFill>
                          <a:effectLst/>
                          <a:ea typeface="微軟正黑體" panose="020B0604030504040204" pitchFamily="34" charset="-12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sz="1100" dirty="0">
                          <a:solidFill>
                            <a:srgbClr val="000000"/>
                          </a:solidFill>
                          <a:effectLst/>
                          <a:ea typeface="微軟正黑體" panose="020B0604030504040204" pitchFamily="34" charset="-12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5308872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3DF50D91-4A32-3EF7-850F-68B600127C68}"/>
              </a:ext>
            </a:extLst>
          </p:cNvPr>
          <p:cNvSpPr txBox="1"/>
          <p:nvPr/>
        </p:nvSpPr>
        <p:spPr>
          <a:xfrm>
            <a:off x="7224538" y="1336707"/>
            <a:ext cx="37240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dirty="0"/>
              <a:t>名單派發邏輯為用最後繳款日到分派名單月份第一天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DD91B9F-E473-8D9F-690E-91D659B9931A}"/>
              </a:ext>
            </a:extLst>
          </p:cNvPr>
          <p:cNvSpPr txBox="1"/>
          <p:nvPr/>
        </p:nvSpPr>
        <p:spPr>
          <a:xfrm>
            <a:off x="7224538" y="2499623"/>
            <a:ext cx="48661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滿三名單撈取期間上限從</a:t>
            </a:r>
            <a:r>
              <a:rPr lang="en-US" altLang="zh-TW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60</a:t>
            </a:r>
            <a:r>
              <a:rPr lang="zh-TW" altLang="en-US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期延長到</a:t>
            </a:r>
            <a:r>
              <a:rPr lang="en-US" altLang="zh-TW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120</a:t>
            </a:r>
            <a:r>
              <a:rPr lang="zh-TW" altLang="en-US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期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DCEFFF3-A4BD-FA8F-BB60-AAC31EFBA80E}"/>
              </a:ext>
            </a:extLst>
          </p:cNvPr>
          <p:cNvSpPr txBox="1"/>
          <p:nvPr/>
        </p:nvSpPr>
        <p:spPr>
          <a:xfrm>
            <a:off x="8958805" y="4290000"/>
            <a:ext cx="3012363" cy="408623"/>
          </a:xfrm>
          <a:prstGeom prst="roundRect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2024/07</a:t>
            </a:r>
            <a:r>
              <a:rPr lang="zh-TW" alt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調整派發名單邏輯</a:t>
            </a:r>
            <a:endParaRPr lang="zh-TW" altLang="en-US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70880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D03D499-9F10-363E-B9C8-B03ED2AEDF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30865"/>
            <a:ext cx="12239720" cy="4596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標題 1">
            <a:extLst>
              <a:ext uri="{FF2B5EF4-FFF2-40B4-BE49-F238E27FC236}">
                <a16:creationId xmlns:a16="http://schemas.microsoft.com/office/drawing/2014/main" id="{C6469DAD-15BB-3ABF-CFC9-AA1C14ECD27A}"/>
              </a:ext>
            </a:extLst>
          </p:cNvPr>
          <p:cNvSpPr txBox="1">
            <a:spLocks/>
          </p:cNvSpPr>
          <p:nvPr/>
        </p:nvSpPr>
        <p:spPr>
          <a:xfrm>
            <a:off x="354876" y="410847"/>
            <a:ext cx="3098074" cy="566692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六、名單分級</a:t>
            </a:r>
          </a:p>
        </p:txBody>
      </p:sp>
    </p:spTree>
    <p:extLst>
      <p:ext uri="{BB962C8B-B14F-4D97-AF65-F5344CB8AC3E}">
        <p14:creationId xmlns:p14="http://schemas.microsoft.com/office/powerpoint/2010/main" val="3562837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8EE0984E-C363-2FE0-43D0-DF13796A80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3502510"/>
              </p:ext>
            </p:extLst>
          </p:nvPr>
        </p:nvGraphicFramePr>
        <p:xfrm>
          <a:off x="1547281" y="759406"/>
          <a:ext cx="6291605" cy="6082626"/>
        </p:xfrm>
        <a:graphic>
          <a:graphicData uri="http://schemas.openxmlformats.org/drawingml/2006/table">
            <a:tbl>
              <a:tblPr/>
              <a:tblGrid>
                <a:gridCol w="1957594">
                  <a:extLst>
                    <a:ext uri="{9D8B030D-6E8A-4147-A177-3AD203B41FA5}">
                      <a16:colId xmlns:a16="http://schemas.microsoft.com/office/drawing/2014/main" val="2400155483"/>
                    </a:ext>
                  </a:extLst>
                </a:gridCol>
                <a:gridCol w="1391399">
                  <a:extLst>
                    <a:ext uri="{9D8B030D-6E8A-4147-A177-3AD203B41FA5}">
                      <a16:colId xmlns:a16="http://schemas.microsoft.com/office/drawing/2014/main" val="3689968884"/>
                    </a:ext>
                  </a:extLst>
                </a:gridCol>
                <a:gridCol w="1528383">
                  <a:extLst>
                    <a:ext uri="{9D8B030D-6E8A-4147-A177-3AD203B41FA5}">
                      <a16:colId xmlns:a16="http://schemas.microsoft.com/office/drawing/2014/main" val="3650530138"/>
                    </a:ext>
                  </a:extLst>
                </a:gridCol>
                <a:gridCol w="1414229">
                  <a:extLst>
                    <a:ext uri="{9D8B030D-6E8A-4147-A177-3AD203B41FA5}">
                      <a16:colId xmlns:a16="http://schemas.microsoft.com/office/drawing/2014/main" val="4290924054"/>
                    </a:ext>
                  </a:extLst>
                </a:gridCol>
              </a:tblGrid>
              <a:tr h="198967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LIST_NM</a:t>
                      </a:r>
                      <a:endParaRPr lang="en-US" altLang="zh-TW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CARD_TYPE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CARD_LEVEL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TIER_LEVEL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0809665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期中名單</a:t>
                      </a:r>
                      <a:endParaRPr lang="zh-TW" alt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H</a:t>
                      </a:r>
                      <a:endParaRPr lang="en-US" altLang="zh-TW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A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T1</a:t>
                      </a:r>
                      <a:endParaRPr lang="en-US" altLang="zh-TW" sz="1600" b="0" i="0" u="none" strike="noStrike" dirty="0"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1621299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期中名單</a:t>
                      </a:r>
                      <a:endParaRPr lang="zh-TW" alt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H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B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T2</a:t>
                      </a:r>
                      <a:endParaRPr lang="en-US" altLang="zh-TW" sz="1600" b="0" i="0" u="none" strike="noStrike" dirty="0"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7679152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期中名單</a:t>
                      </a:r>
                      <a:endParaRPr lang="zh-TW" alt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H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C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T3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6382133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期中名單</a:t>
                      </a:r>
                      <a:endParaRPr lang="zh-TW" alt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H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D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T3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6002096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機車名單</a:t>
                      </a:r>
                      <a:endParaRPr lang="zh-TW" alt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M</a:t>
                      </a:r>
                      <a:endParaRPr lang="en-US" altLang="zh-TW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A</a:t>
                      </a:r>
                      <a:endParaRPr lang="en-US" altLang="zh-TW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T1M</a:t>
                      </a:r>
                      <a:endParaRPr lang="en-US" altLang="zh-TW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1115872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機車名單</a:t>
                      </a:r>
                      <a:endParaRPr lang="zh-TW" alt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M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B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T3M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4864011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機車名單</a:t>
                      </a:r>
                      <a:endParaRPr lang="zh-TW" alt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M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C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T3M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9987523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機車名單</a:t>
                      </a:r>
                      <a:endParaRPr lang="zh-TW" alt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M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D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T3M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9319001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中結名單</a:t>
                      </a:r>
                      <a:endParaRPr lang="zh-TW" alt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S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A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T32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5413319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中結名單</a:t>
                      </a:r>
                      <a:endParaRPr lang="zh-TW" alt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S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B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T32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1137419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中結名單</a:t>
                      </a:r>
                      <a:endParaRPr lang="zh-TW" alt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S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C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T4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1150016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中結名單</a:t>
                      </a:r>
                      <a:endParaRPr lang="zh-TW" alt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S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D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T4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9789400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滿期名單</a:t>
                      </a:r>
                      <a:endParaRPr lang="zh-TW" alt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E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A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T32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382996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滿期名單</a:t>
                      </a:r>
                      <a:endParaRPr lang="zh-TW" alt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E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B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T4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837718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滿期名單</a:t>
                      </a:r>
                      <a:endParaRPr lang="zh-TW" alt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E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C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T4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7979514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滿期名單</a:t>
                      </a:r>
                      <a:endParaRPr lang="zh-TW" alt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E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D</a:t>
                      </a:r>
                      <a:endParaRPr lang="en-US" altLang="zh-TW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T4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2162751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中結五年名單</a:t>
                      </a:r>
                      <a:endParaRPr lang="zh-TW" alt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S5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A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T51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2499914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中結五年名單</a:t>
                      </a:r>
                      <a:endParaRPr lang="zh-TW" alt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S5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B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T51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6584325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滿期三年名單</a:t>
                      </a:r>
                      <a:endParaRPr lang="zh-TW" alt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E5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A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T52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5998821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滿期三年名單</a:t>
                      </a:r>
                      <a:endParaRPr lang="zh-TW" alt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E5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B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T52</a:t>
                      </a:r>
                      <a:endParaRPr lang="en-US" altLang="zh-TW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8964032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滿期三年名單</a:t>
                      </a:r>
                      <a:endParaRPr lang="zh-TW" alt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E5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C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T52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5161020"/>
                  </a:ext>
                </a:extLst>
              </a:tr>
              <a:tr h="206285"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滿期三年名單</a:t>
                      </a:r>
                      <a:endParaRPr lang="zh-TW" alt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E5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D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T52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3387935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機車名單</a:t>
                      </a:r>
                      <a:endParaRPr lang="zh-TW" alt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HM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A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T1HM</a:t>
                      </a:r>
                      <a:endParaRPr lang="en-US" altLang="zh-TW" sz="1600" b="0" i="0" u="none" strike="noStrike" dirty="0"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9395555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機車名單</a:t>
                      </a:r>
                      <a:endParaRPr lang="zh-TW" alt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HM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B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T2HM</a:t>
                      </a:r>
                      <a:endParaRPr lang="en-US" altLang="zh-TW" sz="1600" b="0" i="0" u="none" strike="noStrike" dirty="0"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7318892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機車名單</a:t>
                      </a:r>
                      <a:endParaRPr lang="zh-TW" alt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HM</a:t>
                      </a:r>
                      <a:endParaRPr lang="en-US" altLang="zh-TW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C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T3HM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407660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機車名單</a:t>
                      </a:r>
                      <a:endParaRPr lang="zh-TW" alt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HM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D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T3HM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0380674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機車中結滿期名單</a:t>
                      </a:r>
                      <a:endParaRPr lang="zh-TW" alt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M5</a:t>
                      </a:r>
                      <a:endParaRPr lang="en-US" altLang="zh-TW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　</a:t>
                      </a:r>
                      <a:endParaRPr lang="zh-TW" alt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T5M</a:t>
                      </a:r>
                      <a:endParaRPr lang="en-US" altLang="zh-TW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6650744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商品期中名單</a:t>
                      </a:r>
                      <a:endParaRPr lang="zh-TW" alt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HC</a:t>
                      </a:r>
                      <a:endParaRPr lang="en-US" altLang="zh-TW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TW" alt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THC</a:t>
                      </a: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9141626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商品中結滿期名單</a:t>
                      </a:r>
                      <a:endParaRPr lang="zh-TW" alt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C3</a:t>
                      </a:r>
                      <a:endParaRPr lang="en-US" altLang="zh-TW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TW" alt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T3C</a:t>
                      </a:r>
                    </a:p>
                  </a:txBody>
                  <a:tcPr marL="8276" marR="8276" marT="82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5082616"/>
                  </a:ext>
                </a:extLst>
              </a:tr>
            </a:tbl>
          </a:graphicData>
        </a:graphic>
      </p:graphicFrame>
      <p:sp>
        <p:nvSpPr>
          <p:cNvPr id="5" name="標題 1">
            <a:extLst>
              <a:ext uri="{FF2B5EF4-FFF2-40B4-BE49-F238E27FC236}">
                <a16:creationId xmlns:a16="http://schemas.microsoft.com/office/drawing/2014/main" id="{21F64472-5520-FD1C-8939-9D2E11661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733" y="269333"/>
            <a:ext cx="3098074" cy="566692"/>
          </a:xfrm>
        </p:spPr>
        <p:txBody>
          <a:bodyPr>
            <a:normAutofit fontScale="90000"/>
          </a:bodyPr>
          <a:lstStyle/>
          <a:p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七、名單等級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D997BEB-7DCA-17B0-62D0-756BAD20670E}"/>
              </a:ext>
            </a:extLst>
          </p:cNvPr>
          <p:cNvSpPr/>
          <p:nvPr/>
        </p:nvSpPr>
        <p:spPr>
          <a:xfrm>
            <a:off x="7953725" y="951964"/>
            <a:ext cx="1598572" cy="365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汽車</a:t>
            </a:r>
            <a:r>
              <a:rPr lang="en-US" altLang="zh-TW" dirty="0"/>
              <a:t>-&gt;T1</a:t>
            </a:r>
            <a:r>
              <a:rPr lang="zh-TW" altLang="en-US" dirty="0"/>
              <a:t>、</a:t>
            </a:r>
            <a:r>
              <a:rPr lang="en-US" altLang="zh-TW" dirty="0"/>
              <a:t>T2</a:t>
            </a:r>
            <a:endParaRPr lang="zh-TW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238C897-6811-9C36-65B3-3DDA966E5F92}"/>
              </a:ext>
            </a:extLst>
          </p:cNvPr>
          <p:cNvSpPr/>
          <p:nvPr/>
        </p:nvSpPr>
        <p:spPr>
          <a:xfrm>
            <a:off x="7953725" y="1752737"/>
            <a:ext cx="1598572" cy="5232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機車</a:t>
            </a:r>
            <a:r>
              <a:rPr lang="en-US" altLang="zh-TW" dirty="0"/>
              <a:t>-&gt;T1HM</a:t>
            </a:r>
            <a:r>
              <a:rPr lang="zh-TW" altLang="en-US" dirty="0"/>
              <a:t>、</a:t>
            </a:r>
            <a:r>
              <a:rPr lang="en-US" altLang="zh-TW" dirty="0"/>
              <a:t>T2HM</a:t>
            </a:r>
            <a:endParaRPr lang="zh-TW" altLang="en-US" dirty="0"/>
          </a:p>
        </p:txBody>
      </p:sp>
      <p:sp>
        <p:nvSpPr>
          <p:cNvPr id="7" name="箭號: 向右 6">
            <a:extLst>
              <a:ext uri="{FF2B5EF4-FFF2-40B4-BE49-F238E27FC236}">
                <a16:creationId xmlns:a16="http://schemas.microsoft.com/office/drawing/2014/main" id="{BC00A459-15C0-90DC-178D-AC522F339541}"/>
              </a:ext>
            </a:extLst>
          </p:cNvPr>
          <p:cNvSpPr/>
          <p:nvPr/>
        </p:nvSpPr>
        <p:spPr>
          <a:xfrm>
            <a:off x="9702615" y="1319914"/>
            <a:ext cx="396972" cy="3459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1A2F420-827C-0572-6304-FF1FC02E16CF}"/>
              </a:ext>
            </a:extLst>
          </p:cNvPr>
          <p:cNvSpPr txBox="1"/>
          <p:nvPr/>
        </p:nvSpPr>
        <p:spPr>
          <a:xfrm>
            <a:off x="10253177" y="1258962"/>
            <a:ext cx="19137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400" dirty="0"/>
              <a:t>如果要回寫名單的話</a:t>
            </a:r>
            <a:r>
              <a:rPr lang="en-US" altLang="zh-TW" sz="1400" dirty="0"/>
              <a:t>Tier</a:t>
            </a:r>
            <a:r>
              <a:rPr lang="zh-TW" altLang="en-US" sz="1400" dirty="0"/>
              <a:t>的設定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7E336184-230B-0108-239D-FF1A54247747}"/>
              </a:ext>
            </a:extLst>
          </p:cNvPr>
          <p:cNvSpPr txBox="1"/>
          <p:nvPr/>
        </p:nvSpPr>
        <p:spPr>
          <a:xfrm>
            <a:off x="8122122" y="3403079"/>
            <a:ext cx="39549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dirty="0"/>
              <a:t>回寫需先從分派名單中先篩出尚未發出的名單，</a:t>
            </a:r>
            <a:endParaRPr lang="en-US" altLang="zh-TW" sz="1400" dirty="0"/>
          </a:p>
          <a:p>
            <a:r>
              <a:rPr lang="zh-TW" altLang="en-US" sz="1400" dirty="0"/>
              <a:t>並將指定比例</a:t>
            </a:r>
            <a:r>
              <a:rPr lang="en-US" altLang="zh-TW" sz="1400" dirty="0"/>
              <a:t>/</a:t>
            </a:r>
            <a:r>
              <a:rPr lang="zh-TW" altLang="en-US" sz="1400" dirty="0"/>
              <a:t>件數移到指定人身上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C6154EC-D3EE-B634-495B-66B7A6A4F55E}"/>
              </a:ext>
            </a:extLst>
          </p:cNvPr>
          <p:cNvSpPr txBox="1"/>
          <p:nvPr/>
        </p:nvSpPr>
        <p:spPr>
          <a:xfrm>
            <a:off x="8122122" y="4236070"/>
            <a:ext cx="30572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>
                <a:solidFill>
                  <a:srgbClr val="FF0000"/>
                </a:solidFill>
              </a:rPr>
              <a:t>TIER</a:t>
            </a:r>
            <a:r>
              <a:rPr lang="zh-TW" altLang="en-US" sz="1400" dirty="0">
                <a:solidFill>
                  <a:srgbClr val="FF0000"/>
                </a:solidFill>
              </a:rPr>
              <a:t> 的數字是代表客戶的資料完整度</a:t>
            </a:r>
          </a:p>
        </p:txBody>
      </p:sp>
    </p:spTree>
    <p:extLst>
      <p:ext uri="{BB962C8B-B14F-4D97-AF65-F5344CB8AC3E}">
        <p14:creationId xmlns:p14="http://schemas.microsoft.com/office/powerpoint/2010/main" val="25154743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4FC027-F792-0F4F-6CD2-61C728175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八、名單邏輯調整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95FC02B-8B28-B531-08C6-3C19469D19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每月與電銷部長確認當月狀況並調整</a:t>
            </a:r>
            <a:endParaRPr lang="en-US" altLang="zh-TW" dirty="0"/>
          </a:p>
          <a:p>
            <a:r>
              <a:rPr lang="zh-TW" altLang="en-US" dirty="0"/>
              <a:t>自行拉數據，向企劃部主管提案通過後調整（記得與電銷部長說）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55665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24BE30-6319-AD55-434F-08C34449C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733" y="269333"/>
            <a:ext cx="9166404" cy="566692"/>
          </a:xfrm>
        </p:spPr>
        <p:txBody>
          <a:bodyPr>
            <a:norm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名單分派邏輯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–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依職級交換難易名單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8101E671-45E9-7305-0761-7A1128E676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9153735"/>
              </p:ext>
            </p:extLst>
          </p:nvPr>
        </p:nvGraphicFramePr>
        <p:xfrm>
          <a:off x="158518" y="5493754"/>
          <a:ext cx="9776833" cy="10937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776833">
                  <a:extLst>
                    <a:ext uri="{9D8B030D-6E8A-4147-A177-3AD203B41FA5}">
                      <a16:colId xmlns:a16="http://schemas.microsoft.com/office/drawing/2014/main" val="2710134381"/>
                    </a:ext>
                  </a:extLst>
                </a:gridCol>
              </a:tblGrid>
              <a:tr h="364569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課長主任級的</a:t>
                      </a:r>
                      <a:r>
                        <a:rPr lang="en-US" altLang="zh-TW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T1~3</a:t>
                      </a:r>
                      <a:r>
                        <a:rPr lang="zh-TW" altLang="en-US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名單，改派</a:t>
                      </a:r>
                      <a:r>
                        <a:rPr lang="en-US" altLang="zh-TW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T32</a:t>
                      </a:r>
                      <a:r>
                        <a:rPr lang="zh-TW" altLang="en-US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</a:t>
                      </a:r>
                      <a:r>
                        <a:rPr lang="en-US" altLang="zh-TW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T4</a:t>
                      </a:r>
                      <a:r>
                        <a:rPr lang="zh-TW" altLang="en-US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名單。作法如下：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98750365"/>
                  </a:ext>
                </a:extLst>
              </a:tr>
              <a:tr h="364569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  等量且平均交換課長級</a:t>
                      </a:r>
                      <a:r>
                        <a:rPr lang="en-US" altLang="zh-TW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T1~3</a:t>
                      </a:r>
                      <a:r>
                        <a:rPr lang="zh-TW" altLang="en-US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名單（排除其</a:t>
                      </a:r>
                      <a:r>
                        <a:rPr lang="en-US" altLang="zh-TW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CR</a:t>
                      </a:r>
                      <a:r>
                        <a:rPr lang="zh-TW" altLang="en-US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名單）與同處專員的</a:t>
                      </a:r>
                      <a:r>
                        <a:rPr lang="en-US" altLang="zh-TW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T32</a:t>
                      </a:r>
                      <a:r>
                        <a:rPr lang="zh-TW" altLang="en-US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</a:t>
                      </a:r>
                      <a:r>
                        <a:rPr lang="en-US" altLang="zh-TW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T4</a:t>
                      </a:r>
                      <a:r>
                        <a:rPr lang="zh-TW" altLang="en-US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名單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90614942"/>
                  </a:ext>
                </a:extLst>
              </a:tr>
              <a:tr h="364569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  等量且平均交換主任級</a:t>
                      </a:r>
                      <a:r>
                        <a:rPr lang="en-US" altLang="zh-TW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T1~3</a:t>
                      </a:r>
                      <a:r>
                        <a:rPr lang="zh-TW" altLang="en-US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名單（排除其</a:t>
                      </a:r>
                      <a:r>
                        <a:rPr lang="en-US" altLang="zh-TW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CR</a:t>
                      </a:r>
                      <a:r>
                        <a:rPr lang="zh-TW" altLang="en-US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名單）與同處專員的</a:t>
                      </a:r>
                      <a:r>
                        <a:rPr lang="en-US" altLang="zh-TW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T32</a:t>
                      </a:r>
                      <a:r>
                        <a:rPr lang="zh-TW" altLang="en-US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</a:t>
                      </a:r>
                      <a:r>
                        <a:rPr lang="en-US" altLang="zh-TW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T4</a:t>
                      </a:r>
                      <a:r>
                        <a:rPr lang="zh-TW" altLang="en-US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名單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49513953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FC1E9D93-10BF-6C17-0A68-083B391AA25A}"/>
              </a:ext>
            </a:extLst>
          </p:cNvPr>
          <p:cNvSpPr txBox="1"/>
          <p:nvPr/>
        </p:nvSpPr>
        <p:spPr>
          <a:xfrm>
            <a:off x="5593230" y="315381"/>
            <a:ext cx="4036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2023/02 </a:t>
            </a:r>
            <a:r>
              <a:rPr lang="zh-TW" altLang="en-US" dirty="0"/>
              <a:t>提出 </a:t>
            </a:r>
            <a:r>
              <a:rPr lang="en-US" altLang="zh-TW" dirty="0"/>
              <a:t>/ </a:t>
            </a:r>
            <a:r>
              <a:rPr lang="en-US" altLang="zh-TW" dirty="0">
                <a:solidFill>
                  <a:srgbClr val="FF0000"/>
                </a:solidFill>
              </a:rPr>
              <a:t>2024/08</a:t>
            </a:r>
            <a:r>
              <a:rPr lang="zh-TW" altLang="en-US" dirty="0">
                <a:solidFill>
                  <a:srgbClr val="FF0000"/>
                </a:solidFill>
              </a:rPr>
              <a:t> 關掉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B779BAC-1929-7508-E00D-FF05E3CD266C}"/>
              </a:ext>
            </a:extLst>
          </p:cNvPr>
          <p:cNvSpPr txBox="1"/>
          <p:nvPr/>
        </p:nvSpPr>
        <p:spPr>
          <a:xfrm>
            <a:off x="107132" y="902732"/>
            <a:ext cx="1197773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TW" altLang="en-US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套用現有邏輯分派完名單後，將汽車組業務課長及業務主任個人名單總數</a:t>
            </a:r>
            <a:r>
              <a:rPr lang="en-US" altLang="zh-TW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10%</a:t>
            </a:r>
            <a:r>
              <a:rPr lang="zh-TW" altLang="en-US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（四捨五入至整數位）的期中名單，</a:t>
            </a:r>
            <a:endParaRPr lang="en-US" altLang="zh-TW" sz="1800" b="0" i="0" u="none" strike="noStrike" baseline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/>
            <a:r>
              <a:rPr lang="zh-TW" altLang="en-US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與同處專員的中結滿期名單，等量且平均交換</a:t>
            </a:r>
          </a:p>
          <a:p>
            <a:pPr algn="l"/>
            <a:r>
              <a:rPr lang="zh-TW" altLang="en-US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註：汽車組名單可分為三類，期中、中結滿期（中結五年內</a:t>
            </a:r>
            <a:r>
              <a:rPr lang="en-US" altLang="zh-TW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滿期三年內）、中五滿三（中結五年以上</a:t>
            </a:r>
            <a:r>
              <a:rPr lang="en-US" altLang="zh-TW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滿期三年以上）</a:t>
            </a:r>
          </a:p>
          <a:p>
            <a:pPr algn="l"/>
            <a:endParaRPr lang="en-US" altLang="zh-TW" sz="1800" b="0" i="0" u="none" strike="noStrike" baseline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/>
            <a:r>
              <a:rPr lang="zh-TW" altLang="en-US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舉例如下：</a:t>
            </a:r>
          </a:p>
          <a:p>
            <a:pPr algn="l"/>
            <a:r>
              <a:rPr lang="zh-TW" altLang="en-US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某分處有</a:t>
            </a:r>
            <a:r>
              <a:rPr lang="en-US" altLang="zh-TW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9,000</a:t>
            </a:r>
            <a:r>
              <a:rPr lang="zh-TW" altLang="en-US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筆名單（</a:t>
            </a:r>
            <a:r>
              <a:rPr lang="en-US" altLang="zh-TW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3,000</a:t>
            </a:r>
            <a:r>
              <a:rPr lang="zh-TW" altLang="en-US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筆期中，</a:t>
            </a:r>
            <a:r>
              <a:rPr lang="en-US" altLang="zh-TW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3,000</a:t>
            </a:r>
            <a:r>
              <a:rPr lang="zh-TW" altLang="en-US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筆中結滿期，</a:t>
            </a:r>
            <a:r>
              <a:rPr lang="en-US" altLang="zh-TW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3,000</a:t>
            </a:r>
            <a:r>
              <a:rPr lang="zh-TW" altLang="en-US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筆中五滿三）、</a:t>
            </a:r>
            <a:r>
              <a:rPr lang="en-US" altLang="zh-TW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位業務課長</a:t>
            </a:r>
            <a:r>
              <a:rPr lang="en-US" altLang="zh-TW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</a:t>
            </a:r>
            <a:r>
              <a:rPr lang="zh-TW" altLang="en-US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位業務專員</a:t>
            </a:r>
            <a:r>
              <a:rPr lang="en-US" altLang="zh-TW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 </a:t>
            </a:r>
            <a:r>
              <a:rPr lang="zh-TW" altLang="en-US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</a:t>
            </a:r>
            <a:r>
              <a:rPr lang="en-US" altLang="zh-TW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</a:t>
            </a:r>
          </a:p>
          <a:p>
            <a:pPr algn="l"/>
            <a:r>
              <a:rPr lang="zh-TW" altLang="en-US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今現行名單分派結果為：</a:t>
            </a:r>
          </a:p>
          <a:p>
            <a:pPr algn="l"/>
            <a:r>
              <a:rPr lang="en-US" altLang="zh-TW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</a:t>
            </a:r>
            <a:r>
              <a:rPr lang="zh-TW" altLang="en-US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4,000</a:t>
            </a:r>
            <a:r>
              <a:rPr lang="zh-TW" altLang="en-US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筆名單（</a:t>
            </a:r>
            <a:r>
              <a:rPr lang="en-US" altLang="zh-TW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2,400</a:t>
            </a:r>
            <a:r>
              <a:rPr lang="zh-TW" altLang="en-US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筆期中、</a:t>
            </a:r>
            <a:r>
              <a:rPr lang="en-US" altLang="zh-TW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1,200</a:t>
            </a:r>
            <a:r>
              <a:rPr lang="zh-TW" altLang="en-US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筆中結滿期、</a:t>
            </a:r>
            <a:r>
              <a:rPr lang="en-US" altLang="zh-TW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400</a:t>
            </a:r>
            <a:r>
              <a:rPr lang="zh-TW" altLang="en-US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筆中五滿三）</a:t>
            </a:r>
          </a:p>
          <a:p>
            <a:pPr algn="l"/>
            <a:r>
              <a:rPr lang="en-US" altLang="zh-TW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</a:t>
            </a:r>
            <a:r>
              <a:rPr lang="zh-TW" altLang="en-US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2,500</a:t>
            </a:r>
            <a:r>
              <a:rPr lang="zh-TW" altLang="en-US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筆名單（</a:t>
            </a:r>
            <a:r>
              <a:rPr lang="en-US" altLang="zh-TW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1,500</a:t>
            </a:r>
            <a:r>
              <a:rPr lang="zh-TW" altLang="en-US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筆期中、</a:t>
            </a:r>
            <a:r>
              <a:rPr lang="en-US" altLang="zh-TW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750</a:t>
            </a:r>
            <a:r>
              <a:rPr lang="zh-TW" altLang="en-US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筆中結滿期、</a:t>
            </a:r>
            <a:r>
              <a:rPr lang="en-US" altLang="zh-TW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250</a:t>
            </a:r>
            <a:r>
              <a:rPr lang="zh-TW" altLang="en-US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筆中五滿三）</a:t>
            </a:r>
          </a:p>
          <a:p>
            <a:pPr algn="l"/>
            <a:r>
              <a:rPr lang="en-US" altLang="zh-TW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</a:t>
            </a:r>
            <a:r>
              <a:rPr lang="zh-TW" altLang="en-US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2,500</a:t>
            </a:r>
            <a:r>
              <a:rPr lang="zh-TW" altLang="en-US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筆名單（</a:t>
            </a:r>
            <a:r>
              <a:rPr lang="en-US" altLang="zh-TW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1,500</a:t>
            </a:r>
            <a:r>
              <a:rPr lang="zh-TW" altLang="en-US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筆期中、</a:t>
            </a:r>
            <a:r>
              <a:rPr lang="en-US" altLang="zh-TW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750</a:t>
            </a:r>
            <a:r>
              <a:rPr lang="zh-TW" altLang="en-US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筆中結滿期、</a:t>
            </a:r>
            <a:r>
              <a:rPr lang="en-US" altLang="zh-TW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250</a:t>
            </a:r>
            <a:r>
              <a:rPr lang="zh-TW" altLang="en-US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筆中五滿三）</a:t>
            </a:r>
            <a:endParaRPr lang="en-US" altLang="zh-TW" sz="1800" b="0" i="0" u="none" strike="noStrike" baseline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/>
            <a:endParaRPr lang="zh-TW" altLang="en-US" sz="1800" b="0" i="0" u="none" strike="noStrike" baseline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/>
            <a:r>
              <a:rPr lang="zh-TW" altLang="en-US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則加上新增的規則後，將</a:t>
            </a:r>
            <a:r>
              <a:rPr lang="en-US" altLang="zh-TW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</a:t>
            </a:r>
            <a:r>
              <a:rPr lang="zh-TW" altLang="en-US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400 (=4000*10%)</a:t>
            </a:r>
            <a:r>
              <a:rPr lang="zh-TW" altLang="en-US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筆期中名單，與</a:t>
            </a:r>
            <a:r>
              <a:rPr lang="en-US" altLang="zh-TW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</a:t>
            </a:r>
            <a:r>
              <a:rPr lang="zh-TW" altLang="en-US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</a:t>
            </a:r>
            <a:r>
              <a:rPr lang="zh-TW" altLang="en-US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的中結滿期名單平均交換</a:t>
            </a:r>
          </a:p>
          <a:p>
            <a:pPr algn="l"/>
            <a:r>
              <a:rPr lang="zh-TW" altLang="en-US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最終分派結果如下</a:t>
            </a:r>
          </a:p>
          <a:p>
            <a:pPr algn="l"/>
            <a:r>
              <a:rPr lang="en-US" altLang="zh-TW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</a:t>
            </a:r>
            <a:r>
              <a:rPr lang="zh-TW" altLang="en-US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4,000</a:t>
            </a:r>
            <a:r>
              <a:rPr lang="zh-TW" altLang="en-US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筆名單（</a:t>
            </a:r>
            <a:r>
              <a:rPr lang="en-US" altLang="zh-TW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2,000</a:t>
            </a:r>
            <a:r>
              <a:rPr lang="zh-TW" altLang="en-US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筆期中、</a:t>
            </a:r>
            <a:r>
              <a:rPr lang="en-US" altLang="zh-TW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1,600</a:t>
            </a:r>
            <a:r>
              <a:rPr lang="zh-TW" altLang="en-US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筆中結滿期、</a:t>
            </a:r>
            <a:r>
              <a:rPr lang="en-US" altLang="zh-TW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400</a:t>
            </a:r>
            <a:r>
              <a:rPr lang="zh-TW" altLang="en-US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筆中五滿三）</a:t>
            </a:r>
          </a:p>
          <a:p>
            <a:pPr algn="l"/>
            <a:r>
              <a:rPr lang="en-US" altLang="zh-TW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</a:t>
            </a:r>
            <a:r>
              <a:rPr lang="zh-TW" altLang="en-US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2,500</a:t>
            </a:r>
            <a:r>
              <a:rPr lang="zh-TW" altLang="en-US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筆名單（</a:t>
            </a:r>
            <a:r>
              <a:rPr lang="en-US" altLang="zh-TW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1,700</a:t>
            </a:r>
            <a:r>
              <a:rPr lang="zh-TW" altLang="en-US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筆期中、</a:t>
            </a:r>
            <a:r>
              <a:rPr lang="en-US" altLang="zh-TW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550</a:t>
            </a:r>
            <a:r>
              <a:rPr lang="zh-TW" altLang="en-US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筆中結滿期、</a:t>
            </a:r>
            <a:r>
              <a:rPr lang="en-US" altLang="zh-TW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250</a:t>
            </a:r>
            <a:r>
              <a:rPr lang="zh-TW" altLang="en-US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筆中五滿三）</a:t>
            </a:r>
          </a:p>
          <a:p>
            <a:pPr algn="l"/>
            <a:r>
              <a:rPr lang="en-US" altLang="zh-TW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</a:t>
            </a:r>
            <a:r>
              <a:rPr lang="zh-TW" altLang="en-US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2,500</a:t>
            </a:r>
            <a:r>
              <a:rPr lang="zh-TW" altLang="en-US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筆名單（</a:t>
            </a:r>
            <a:r>
              <a:rPr lang="en-US" altLang="zh-TW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1,700</a:t>
            </a:r>
            <a:r>
              <a:rPr lang="zh-TW" altLang="en-US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筆期中、</a:t>
            </a:r>
            <a:r>
              <a:rPr lang="en-US" altLang="zh-TW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550</a:t>
            </a:r>
            <a:r>
              <a:rPr lang="zh-TW" altLang="en-US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筆中結滿期、</a:t>
            </a:r>
            <a:r>
              <a:rPr lang="en-US" altLang="zh-TW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250</a:t>
            </a:r>
            <a:r>
              <a:rPr lang="zh-TW" altLang="en-US" sz="1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筆中五滿三）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733104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B87EEA-E710-5721-3F7D-920EA66155A5}"/>
              </a:ext>
            </a:extLst>
          </p:cNvPr>
          <p:cNvSpPr txBox="1">
            <a:spLocks/>
          </p:cNvSpPr>
          <p:nvPr/>
        </p:nvSpPr>
        <p:spPr>
          <a:xfrm>
            <a:off x="7078564" y="371413"/>
            <a:ext cx="3935393" cy="399635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名單分派邏輯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–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2024/06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版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D7131DC7-D427-FCDB-D089-97CF9CF171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2843099"/>
              </p:ext>
            </p:extLst>
          </p:nvPr>
        </p:nvGraphicFramePr>
        <p:xfrm>
          <a:off x="417431" y="650218"/>
          <a:ext cx="5786601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68838">
                  <a:extLst>
                    <a:ext uri="{9D8B030D-6E8A-4147-A177-3AD203B41FA5}">
                      <a16:colId xmlns:a16="http://schemas.microsoft.com/office/drawing/2014/main" val="1203993718"/>
                    </a:ext>
                  </a:extLst>
                </a:gridCol>
                <a:gridCol w="1666754">
                  <a:extLst>
                    <a:ext uri="{9D8B030D-6E8A-4147-A177-3AD203B41FA5}">
                      <a16:colId xmlns:a16="http://schemas.microsoft.com/office/drawing/2014/main" val="1518842369"/>
                    </a:ext>
                  </a:extLst>
                </a:gridCol>
                <a:gridCol w="1551009">
                  <a:extLst>
                    <a:ext uri="{9D8B030D-6E8A-4147-A177-3AD203B41FA5}">
                      <a16:colId xmlns:a16="http://schemas.microsoft.com/office/drawing/2014/main" val="368686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汽車名單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撈取期數下限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撈取期數上限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88505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汽車期中名單 </a:t>
                      </a: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–</a:t>
                      </a: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他新中古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84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68983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汽車期中名單 </a:t>
                      </a: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–</a:t>
                      </a: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非他新中古</a:t>
                      </a:r>
                      <a:endParaRPr lang="zh-TW" altLang="zh-TW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84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2349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汽車中結名單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60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94545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</a:t>
                      </a: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滿期</a:t>
                      </a:r>
                      <a:r>
                        <a:rPr lang="zh-TW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名單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0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36</a:t>
                      </a:r>
                      <a:endParaRPr lang="zh-TW" altLang="en-US" sz="1400" kern="1200" dirty="0">
                        <a:solidFill>
                          <a:srgbClr val="FF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28482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汽車中結五年名單</a:t>
                      </a:r>
                      <a:endParaRPr lang="zh-TW" altLang="zh-TW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64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120</a:t>
                      </a:r>
                      <a:endParaRPr lang="zh-TW" altLang="en-US" sz="1400" kern="1200" dirty="0">
                        <a:solidFill>
                          <a:srgbClr val="FF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1013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汽車滿期三年名單</a:t>
                      </a:r>
                      <a:endParaRPr lang="zh-TW" altLang="zh-TW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40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60</a:t>
                      </a:r>
                      <a:endParaRPr lang="zh-TW" altLang="en-US" sz="1400" kern="1200" dirty="0">
                        <a:solidFill>
                          <a:srgbClr val="FF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38625392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F9CF4CA7-9443-555D-EAF5-C682F824AD93}"/>
              </a:ext>
            </a:extLst>
          </p:cNvPr>
          <p:cNvSpPr txBox="1"/>
          <p:nvPr/>
        </p:nvSpPr>
        <p:spPr>
          <a:xfrm>
            <a:off x="320424" y="4096013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機車名單、商品名單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B7AD8696-9F2D-89DE-59DA-5B2FDA98D6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0862772"/>
              </p:ext>
            </p:extLst>
          </p:nvPr>
        </p:nvGraphicFramePr>
        <p:xfrm>
          <a:off x="454085" y="4544332"/>
          <a:ext cx="5786600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55333">
                  <a:extLst>
                    <a:ext uri="{9D8B030D-6E8A-4147-A177-3AD203B41FA5}">
                      <a16:colId xmlns:a16="http://schemas.microsoft.com/office/drawing/2014/main" val="1455941219"/>
                    </a:ext>
                  </a:extLst>
                </a:gridCol>
                <a:gridCol w="1655179">
                  <a:extLst>
                    <a:ext uri="{9D8B030D-6E8A-4147-A177-3AD203B41FA5}">
                      <a16:colId xmlns:a16="http://schemas.microsoft.com/office/drawing/2014/main" val="3256006518"/>
                    </a:ext>
                  </a:extLst>
                </a:gridCol>
                <a:gridCol w="1576088">
                  <a:extLst>
                    <a:ext uri="{9D8B030D-6E8A-4147-A177-3AD203B41FA5}">
                      <a16:colId xmlns:a16="http://schemas.microsoft.com/office/drawing/2014/main" val="22389387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機車、商品名單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撈取期數下限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撈取期數上限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90025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機車期中名單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14</a:t>
                      </a:r>
                      <a:endParaRPr lang="zh-TW" altLang="en-US" sz="1400" kern="1200" dirty="0">
                        <a:solidFill>
                          <a:srgbClr val="FF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72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6027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機車中結滿期名單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0</a:t>
                      </a:r>
                      <a:endParaRPr lang="zh-TW" altLang="en-US" sz="1400" kern="1200" dirty="0">
                        <a:solidFill>
                          <a:srgbClr val="FF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60</a:t>
                      </a:r>
                      <a:endParaRPr lang="zh-TW" altLang="en-US" sz="1400" kern="1200" dirty="0">
                        <a:solidFill>
                          <a:srgbClr val="FF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0709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機車中五滿五名單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64</a:t>
                      </a:r>
                      <a:endParaRPr lang="zh-TW" altLang="en-US" sz="1400" kern="1200" dirty="0">
                        <a:solidFill>
                          <a:srgbClr val="FF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108</a:t>
                      </a:r>
                      <a:endParaRPr lang="zh-TW" altLang="en-US" sz="1400" kern="1200" dirty="0">
                        <a:solidFill>
                          <a:srgbClr val="FF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7643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商品期中名單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6</a:t>
                      </a:r>
                      <a:endParaRPr lang="zh-TW" altLang="en-US" sz="1400" kern="1200" dirty="0">
                        <a:solidFill>
                          <a:srgbClr val="FF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60</a:t>
                      </a:r>
                      <a:endParaRPr lang="zh-TW" altLang="en-US" sz="1400" kern="1200" dirty="0">
                        <a:solidFill>
                          <a:srgbClr val="FF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3775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商品中結滿期名單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0</a:t>
                      </a:r>
                      <a:endParaRPr lang="zh-TW" altLang="en-US" sz="1400" kern="1200" dirty="0">
                        <a:solidFill>
                          <a:srgbClr val="FF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60</a:t>
                      </a:r>
                      <a:endParaRPr lang="zh-TW" altLang="en-US" sz="1400" kern="1200" dirty="0">
                        <a:solidFill>
                          <a:srgbClr val="FF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5353530"/>
                  </a:ext>
                </a:extLst>
              </a:tr>
            </a:tbl>
          </a:graphicData>
        </a:graphic>
      </p:graphicFrame>
      <p:sp>
        <p:nvSpPr>
          <p:cNvPr id="11" name="文字方塊 10">
            <a:extLst>
              <a:ext uri="{FF2B5EF4-FFF2-40B4-BE49-F238E27FC236}">
                <a16:creationId xmlns:a16="http://schemas.microsoft.com/office/drawing/2014/main" id="{E702D9CB-8E4B-675D-9D20-99152B80F738}"/>
              </a:ext>
            </a:extLst>
          </p:cNvPr>
          <p:cNvSpPr txBox="1"/>
          <p:nvPr/>
        </p:nvSpPr>
        <p:spPr>
          <a:xfrm>
            <a:off x="378299" y="3231298"/>
            <a:ext cx="4241867" cy="6990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：汽車中五滿三名單派件方式為各分處平均發放</a:t>
            </a:r>
            <a:endParaRPr lang="en-US" altLang="zh-TW" sz="1400" b="1" dirty="0">
              <a:solidFill>
                <a:schemeClr val="bg1">
                  <a:lumMod val="6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：職級交換難易名單邏輯為主任專員名單互換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8FBC379-7712-CC10-53F3-AED8EC5F28BB}"/>
              </a:ext>
            </a:extLst>
          </p:cNvPr>
          <p:cNvSpPr txBox="1"/>
          <p:nvPr/>
        </p:nvSpPr>
        <p:spPr>
          <a:xfrm>
            <a:off x="320424" y="20189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汽車名單</a:t>
            </a:r>
          </a:p>
        </p:txBody>
      </p:sp>
    </p:spTree>
    <p:extLst>
      <p:ext uri="{BB962C8B-B14F-4D97-AF65-F5344CB8AC3E}">
        <p14:creationId xmlns:p14="http://schemas.microsoft.com/office/powerpoint/2010/main" val="31158326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B87EEA-E710-5721-3F7D-920EA66155A5}"/>
              </a:ext>
            </a:extLst>
          </p:cNvPr>
          <p:cNvSpPr txBox="1">
            <a:spLocks/>
          </p:cNvSpPr>
          <p:nvPr/>
        </p:nvSpPr>
        <p:spPr>
          <a:xfrm>
            <a:off x="7078564" y="371413"/>
            <a:ext cx="3935393" cy="399635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名單分派邏輯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–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2024/07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版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D7131DC7-D427-FCDB-D089-97CF9CF171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019662"/>
              </p:ext>
            </p:extLst>
          </p:nvPr>
        </p:nvGraphicFramePr>
        <p:xfrm>
          <a:off x="417431" y="650218"/>
          <a:ext cx="5786601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68838">
                  <a:extLst>
                    <a:ext uri="{9D8B030D-6E8A-4147-A177-3AD203B41FA5}">
                      <a16:colId xmlns:a16="http://schemas.microsoft.com/office/drawing/2014/main" val="1203993718"/>
                    </a:ext>
                  </a:extLst>
                </a:gridCol>
                <a:gridCol w="1666754">
                  <a:extLst>
                    <a:ext uri="{9D8B030D-6E8A-4147-A177-3AD203B41FA5}">
                      <a16:colId xmlns:a16="http://schemas.microsoft.com/office/drawing/2014/main" val="1518842369"/>
                    </a:ext>
                  </a:extLst>
                </a:gridCol>
                <a:gridCol w="1551009">
                  <a:extLst>
                    <a:ext uri="{9D8B030D-6E8A-4147-A177-3AD203B41FA5}">
                      <a16:colId xmlns:a16="http://schemas.microsoft.com/office/drawing/2014/main" val="368686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汽車名單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撈取期數下限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撈取期數上限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88505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汽車期中名單 </a:t>
                      </a: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–</a:t>
                      </a: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他新中古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84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68983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汽車期中名單 </a:t>
                      </a: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–</a:t>
                      </a: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非他新中古</a:t>
                      </a:r>
                      <a:endParaRPr lang="zh-TW" altLang="zh-TW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84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2349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汽車中結名單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60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94545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</a:t>
                      </a: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滿期</a:t>
                      </a:r>
                      <a:r>
                        <a:rPr lang="zh-TW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名單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0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36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28482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汽車中結五年名單</a:t>
                      </a:r>
                      <a:endParaRPr lang="zh-TW" altLang="zh-TW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64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120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1013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汽車滿期三年名單</a:t>
                      </a:r>
                      <a:endParaRPr lang="zh-TW" altLang="zh-TW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40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120</a:t>
                      </a:r>
                      <a:endParaRPr lang="zh-TW" altLang="en-US" sz="1400" kern="1200" dirty="0">
                        <a:solidFill>
                          <a:srgbClr val="FF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38625392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F9CF4CA7-9443-555D-EAF5-C682F824AD93}"/>
              </a:ext>
            </a:extLst>
          </p:cNvPr>
          <p:cNvSpPr txBox="1"/>
          <p:nvPr/>
        </p:nvSpPr>
        <p:spPr>
          <a:xfrm>
            <a:off x="320424" y="4096013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機車名單、商品名單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B7AD8696-9F2D-89DE-59DA-5B2FDA98D6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7413153"/>
              </p:ext>
            </p:extLst>
          </p:nvPr>
        </p:nvGraphicFramePr>
        <p:xfrm>
          <a:off x="454085" y="4544332"/>
          <a:ext cx="5786600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55333">
                  <a:extLst>
                    <a:ext uri="{9D8B030D-6E8A-4147-A177-3AD203B41FA5}">
                      <a16:colId xmlns:a16="http://schemas.microsoft.com/office/drawing/2014/main" val="1455941219"/>
                    </a:ext>
                  </a:extLst>
                </a:gridCol>
                <a:gridCol w="1655179">
                  <a:extLst>
                    <a:ext uri="{9D8B030D-6E8A-4147-A177-3AD203B41FA5}">
                      <a16:colId xmlns:a16="http://schemas.microsoft.com/office/drawing/2014/main" val="3256006518"/>
                    </a:ext>
                  </a:extLst>
                </a:gridCol>
                <a:gridCol w="1576088">
                  <a:extLst>
                    <a:ext uri="{9D8B030D-6E8A-4147-A177-3AD203B41FA5}">
                      <a16:colId xmlns:a16="http://schemas.microsoft.com/office/drawing/2014/main" val="22389387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機車、商品名單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撈取期數下限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撈取期數上限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90025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機車期中名單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18</a:t>
                      </a:r>
                      <a:endParaRPr lang="zh-TW" altLang="en-US" sz="1400" kern="1200" dirty="0">
                        <a:solidFill>
                          <a:srgbClr val="FF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72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6027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機車中結滿期名單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0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12</a:t>
                      </a:r>
                      <a:endParaRPr lang="zh-TW" altLang="en-US" sz="1400" kern="1200" dirty="0">
                        <a:solidFill>
                          <a:srgbClr val="FF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0709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機車中五滿五名單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取消發放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7643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商品期中名單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6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60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3775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商品中結滿期名單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取消發放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5353530"/>
                  </a:ext>
                </a:extLst>
              </a:tr>
            </a:tbl>
          </a:graphicData>
        </a:graphic>
      </p:graphicFrame>
      <p:sp>
        <p:nvSpPr>
          <p:cNvPr id="11" name="文字方塊 10">
            <a:extLst>
              <a:ext uri="{FF2B5EF4-FFF2-40B4-BE49-F238E27FC236}">
                <a16:creationId xmlns:a16="http://schemas.microsoft.com/office/drawing/2014/main" id="{E702D9CB-8E4B-675D-9D20-99152B80F738}"/>
              </a:ext>
            </a:extLst>
          </p:cNvPr>
          <p:cNvSpPr txBox="1"/>
          <p:nvPr/>
        </p:nvSpPr>
        <p:spPr>
          <a:xfrm>
            <a:off x="378299" y="3231298"/>
            <a:ext cx="4241867" cy="6990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：汽車中五滿三名單派件方式為各分處平均發放</a:t>
            </a:r>
            <a:endParaRPr lang="en-US" altLang="zh-TW" sz="1400" b="1" dirty="0">
              <a:solidFill>
                <a:schemeClr val="bg1">
                  <a:lumMod val="6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：職級交換難易名單邏輯為主任專員名單互換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8FBC379-7712-CC10-53F3-AED8EC5F28BB}"/>
              </a:ext>
            </a:extLst>
          </p:cNvPr>
          <p:cNvSpPr txBox="1"/>
          <p:nvPr/>
        </p:nvSpPr>
        <p:spPr>
          <a:xfrm>
            <a:off x="320424" y="20189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汽車名單</a:t>
            </a:r>
          </a:p>
        </p:txBody>
      </p:sp>
    </p:spTree>
    <p:extLst>
      <p:ext uri="{BB962C8B-B14F-4D97-AF65-F5344CB8AC3E}">
        <p14:creationId xmlns:p14="http://schemas.microsoft.com/office/powerpoint/2010/main" val="2302923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45B0A086-1A42-2D77-E9B4-F53CF6290B35}"/>
              </a:ext>
            </a:extLst>
          </p:cNvPr>
          <p:cNvSpPr txBox="1"/>
          <p:nvPr/>
        </p:nvSpPr>
        <p:spPr>
          <a:xfrm>
            <a:off x="484709" y="925974"/>
            <a:ext cx="11222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考量到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產品結構調整，成數限縮在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130%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，故新增篩選條件，使名單發放出去後，客戶至少會拿到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萬</a:t>
            </a:r>
            <a:r>
              <a:rPr lang="zh-TW" altLang="en-US" sz="18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↑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9D96C06-4506-0590-BFD6-E44A8A7DD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709" y="2253135"/>
            <a:ext cx="8106906" cy="4458322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569DEE93-D9EB-EEC6-B513-3C5E87D1FD34}"/>
              </a:ext>
            </a:extLst>
          </p:cNvPr>
          <p:cNvSpPr txBox="1"/>
          <p:nvPr/>
        </p:nvSpPr>
        <p:spPr>
          <a:xfrm>
            <a:off x="484708" y="1399101"/>
            <a:ext cx="112225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8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僅對汽車期中</a:t>
            </a:r>
            <a:r>
              <a:rPr lang="en-US" altLang="zh-TW" sz="18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『</a:t>
            </a:r>
            <a:r>
              <a:rPr lang="zh-TW" altLang="en-US" sz="18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原融</a:t>
            </a:r>
            <a:r>
              <a:rPr lang="en-US" altLang="zh-TW" sz="18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』</a:t>
            </a:r>
            <a:r>
              <a:rPr lang="zh-TW" altLang="en-US" sz="18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名單進行篩選，本新名單皆為有效故不新增篩選條件。</a:t>
            </a:r>
            <a:endParaRPr lang="en-US" altLang="zh-TW" sz="18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他新名單新增以下條件：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674EF20-1BA8-D376-2186-1C66E85B22E6}"/>
              </a:ext>
            </a:extLst>
          </p:cNvPr>
          <p:cNvSpPr txBox="1"/>
          <p:nvPr/>
        </p:nvSpPr>
        <p:spPr>
          <a:xfrm>
            <a:off x="484709" y="360457"/>
            <a:ext cx="3705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新增名單分派邏輯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–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汽車</a:t>
            </a:r>
            <a:endParaRPr lang="zh-TW" altLang="en-US" sz="2400" b="1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016A422-96D8-D3A8-A86E-307D90498665}"/>
              </a:ext>
            </a:extLst>
          </p:cNvPr>
          <p:cNvSpPr txBox="1"/>
          <p:nvPr/>
        </p:nvSpPr>
        <p:spPr>
          <a:xfrm>
            <a:off x="9745884" y="451354"/>
            <a:ext cx="1840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2024/07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實施</a:t>
            </a:r>
            <a:endParaRPr lang="zh-TW" altLang="en-US" sz="18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41058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B87EEA-E710-5721-3F7D-920EA66155A5}"/>
              </a:ext>
            </a:extLst>
          </p:cNvPr>
          <p:cNvSpPr txBox="1">
            <a:spLocks/>
          </p:cNvSpPr>
          <p:nvPr/>
        </p:nvSpPr>
        <p:spPr>
          <a:xfrm>
            <a:off x="7078564" y="371413"/>
            <a:ext cx="3935393" cy="399635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名單分派邏輯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–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2024/08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版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D7131DC7-D427-FCDB-D089-97CF9CF171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6567270"/>
              </p:ext>
            </p:extLst>
          </p:nvPr>
        </p:nvGraphicFramePr>
        <p:xfrm>
          <a:off x="417431" y="650218"/>
          <a:ext cx="5786601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68838">
                  <a:extLst>
                    <a:ext uri="{9D8B030D-6E8A-4147-A177-3AD203B41FA5}">
                      <a16:colId xmlns:a16="http://schemas.microsoft.com/office/drawing/2014/main" val="1203993718"/>
                    </a:ext>
                  </a:extLst>
                </a:gridCol>
                <a:gridCol w="1666754">
                  <a:extLst>
                    <a:ext uri="{9D8B030D-6E8A-4147-A177-3AD203B41FA5}">
                      <a16:colId xmlns:a16="http://schemas.microsoft.com/office/drawing/2014/main" val="1518842369"/>
                    </a:ext>
                  </a:extLst>
                </a:gridCol>
                <a:gridCol w="1551009">
                  <a:extLst>
                    <a:ext uri="{9D8B030D-6E8A-4147-A177-3AD203B41FA5}">
                      <a16:colId xmlns:a16="http://schemas.microsoft.com/office/drawing/2014/main" val="368686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汽車名單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撈取期數下限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撈取期數上限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88505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汽車期中名單 </a:t>
                      </a: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–</a:t>
                      </a: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他新中古</a:t>
                      </a: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84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8983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汽車期中名單 </a:t>
                      </a: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–</a:t>
                      </a: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非他新中古</a:t>
                      </a:r>
                      <a:endParaRPr lang="zh-TW" altLang="zh-TW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84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2349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汽車中結名單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60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94545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</a:t>
                      </a: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滿期</a:t>
                      </a:r>
                      <a:r>
                        <a:rPr lang="zh-TW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名單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0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36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28482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汽車中結五年名單</a:t>
                      </a:r>
                      <a:endParaRPr lang="zh-TW" altLang="zh-TW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64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120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1013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汽車滿期三年名單</a:t>
                      </a:r>
                      <a:endParaRPr lang="zh-TW" altLang="zh-TW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40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60</a:t>
                      </a:r>
                      <a:endParaRPr lang="zh-TW" altLang="en-US" sz="1400" kern="1200" dirty="0">
                        <a:solidFill>
                          <a:srgbClr val="FF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38625392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F9CF4CA7-9443-555D-EAF5-C682F824AD93}"/>
              </a:ext>
            </a:extLst>
          </p:cNvPr>
          <p:cNvSpPr txBox="1"/>
          <p:nvPr/>
        </p:nvSpPr>
        <p:spPr>
          <a:xfrm>
            <a:off x="320424" y="4096013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機車名單、商品名單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B7AD8696-9F2D-89DE-59DA-5B2FDA98D6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8541778"/>
              </p:ext>
            </p:extLst>
          </p:nvPr>
        </p:nvGraphicFramePr>
        <p:xfrm>
          <a:off x="454085" y="4544332"/>
          <a:ext cx="5786600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55333">
                  <a:extLst>
                    <a:ext uri="{9D8B030D-6E8A-4147-A177-3AD203B41FA5}">
                      <a16:colId xmlns:a16="http://schemas.microsoft.com/office/drawing/2014/main" val="1455941219"/>
                    </a:ext>
                  </a:extLst>
                </a:gridCol>
                <a:gridCol w="1655179">
                  <a:extLst>
                    <a:ext uri="{9D8B030D-6E8A-4147-A177-3AD203B41FA5}">
                      <a16:colId xmlns:a16="http://schemas.microsoft.com/office/drawing/2014/main" val="3256006518"/>
                    </a:ext>
                  </a:extLst>
                </a:gridCol>
                <a:gridCol w="1576088">
                  <a:extLst>
                    <a:ext uri="{9D8B030D-6E8A-4147-A177-3AD203B41FA5}">
                      <a16:colId xmlns:a16="http://schemas.microsoft.com/office/drawing/2014/main" val="22389387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機車、商品名單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撈取期數下限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撈取期數上限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90025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機車期中名單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18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72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6027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機車中結滿期名單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取消發放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0709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機車中五滿五名單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取消發放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7643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商品期中名單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取消發放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3775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商品中結滿期名單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取消發放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5353530"/>
                  </a:ext>
                </a:extLst>
              </a:tr>
            </a:tbl>
          </a:graphicData>
        </a:graphic>
      </p:graphicFrame>
      <p:sp>
        <p:nvSpPr>
          <p:cNvPr id="11" name="文字方塊 10">
            <a:extLst>
              <a:ext uri="{FF2B5EF4-FFF2-40B4-BE49-F238E27FC236}">
                <a16:creationId xmlns:a16="http://schemas.microsoft.com/office/drawing/2014/main" id="{E702D9CB-8E4B-675D-9D20-99152B80F738}"/>
              </a:ext>
            </a:extLst>
          </p:cNvPr>
          <p:cNvSpPr txBox="1"/>
          <p:nvPr/>
        </p:nvSpPr>
        <p:spPr>
          <a:xfrm>
            <a:off x="378299" y="3231298"/>
            <a:ext cx="4241867" cy="6990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：汽車中五滿三名單派件方式為各分處平均發放</a:t>
            </a:r>
            <a:endParaRPr lang="en-US" altLang="zh-TW" sz="1400" b="1" dirty="0">
              <a:solidFill>
                <a:schemeClr val="bg1">
                  <a:lumMod val="6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：依職級交換難易名單邏輯於 </a:t>
            </a:r>
            <a:r>
              <a:rPr lang="en-US" altLang="zh-TW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2024/08</a:t>
            </a: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關掉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8FBC379-7712-CC10-53F3-AED8EC5F28BB}"/>
              </a:ext>
            </a:extLst>
          </p:cNvPr>
          <p:cNvSpPr txBox="1"/>
          <p:nvPr/>
        </p:nvSpPr>
        <p:spPr>
          <a:xfrm>
            <a:off x="320424" y="20189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汽車名單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1E11B34B-A898-BF4B-AE9F-6BDE9777323F}"/>
              </a:ext>
            </a:extLst>
          </p:cNvPr>
          <p:cNvGraphicFramePr>
            <a:graphicFrameLocks noGrp="1"/>
          </p:cNvGraphicFramePr>
          <p:nvPr/>
        </p:nvGraphicFramePr>
        <p:xfrm>
          <a:off x="6775050" y="2719358"/>
          <a:ext cx="4889662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44831">
                  <a:extLst>
                    <a:ext uri="{9D8B030D-6E8A-4147-A177-3AD203B41FA5}">
                      <a16:colId xmlns:a16="http://schemas.microsoft.com/office/drawing/2014/main" val="735764444"/>
                    </a:ext>
                  </a:extLst>
                </a:gridCol>
                <a:gridCol w="2444831">
                  <a:extLst>
                    <a:ext uri="{9D8B030D-6E8A-4147-A177-3AD203B41FA5}">
                      <a16:colId xmlns:a16="http://schemas.microsoft.com/office/drawing/2014/main" val="13233626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汽車期中名單 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zh-TW" sz="14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原融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篩選條件</a:t>
                      </a:r>
                      <a:endParaRPr lang="zh-TW" sz="14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297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180%</a:t>
                      </a:r>
                      <a:r>
                        <a:rPr lang="zh-TW" sz="14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以上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90%</a:t>
                      </a:r>
                      <a:endParaRPr lang="zh-TW" sz="14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827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171%~180%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80%</a:t>
                      </a:r>
                      <a:endParaRPr lang="zh-TW" sz="14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6688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161%~170%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70%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28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151%~160%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70%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7203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141%~150%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70%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8775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131%~140%</a:t>
                      </a:r>
                      <a:endParaRPr lang="zh-TW" sz="14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60%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429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130%(</a:t>
                      </a:r>
                      <a:r>
                        <a:rPr lang="zh-TW" sz="14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含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)</a:t>
                      </a:r>
                      <a:r>
                        <a:rPr lang="zh-TW" sz="14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以下</a:t>
                      </a:r>
                      <a:endParaRPr lang="zh-TW" sz="14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-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8230163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C91C1596-738F-4D6F-1B08-A00483A2BEB0}"/>
              </a:ext>
            </a:extLst>
          </p:cNvPr>
          <p:cNvSpPr txBox="1"/>
          <p:nvPr/>
        </p:nvSpPr>
        <p:spPr>
          <a:xfrm>
            <a:off x="6645159" y="2211387"/>
            <a:ext cx="5369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汽車期中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他新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針對原融部份另外卡已繳期數邏輯：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40E9ACA-8A02-4E29-0342-3FF0C93E1B56}"/>
              </a:ext>
            </a:extLst>
          </p:cNvPr>
          <p:cNvSpPr/>
          <p:nvPr/>
        </p:nvSpPr>
        <p:spPr>
          <a:xfrm>
            <a:off x="6547413" y="2123518"/>
            <a:ext cx="5369718" cy="376384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" name="接點: 肘形 5">
            <a:extLst>
              <a:ext uri="{FF2B5EF4-FFF2-40B4-BE49-F238E27FC236}">
                <a16:creationId xmlns:a16="http://schemas.microsoft.com/office/drawing/2014/main" id="{B5D35E9D-17AD-8D04-C90C-4AEDF3F91403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6240685" y="1243584"/>
            <a:ext cx="2991587" cy="879934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BCF8BDCB-CD4A-BE5B-E600-221C2F87C419}"/>
              </a:ext>
            </a:extLst>
          </p:cNvPr>
          <p:cNvSpPr txBox="1"/>
          <p:nvPr/>
        </p:nvSpPr>
        <p:spPr>
          <a:xfrm>
            <a:off x="6547413" y="5975234"/>
            <a:ext cx="3344185" cy="6990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：汽機車名單混合發放</a:t>
            </a:r>
            <a:endParaRPr lang="en-US" altLang="zh-TW" sz="1400" b="1" dirty="0">
              <a:solidFill>
                <a:schemeClr val="bg1">
                  <a:lumMod val="6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：汽車名單優先於機車名單進行發放</a:t>
            </a:r>
            <a:endParaRPr lang="en-US" altLang="zh-TW" sz="1400" b="1" dirty="0">
              <a:solidFill>
                <a:schemeClr val="bg1">
                  <a:lumMod val="6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291461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B87EEA-E710-5721-3F7D-920EA66155A5}"/>
              </a:ext>
            </a:extLst>
          </p:cNvPr>
          <p:cNvSpPr txBox="1">
            <a:spLocks/>
          </p:cNvSpPr>
          <p:nvPr/>
        </p:nvSpPr>
        <p:spPr>
          <a:xfrm>
            <a:off x="7078564" y="371413"/>
            <a:ext cx="3935393" cy="399635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名單分派邏輯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–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2024/09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版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83608E8-0FE1-D4AC-6C44-1BE7BCBB6147}"/>
              </a:ext>
            </a:extLst>
          </p:cNvPr>
          <p:cNvGraphicFramePr>
            <a:graphicFrameLocks noGrp="1"/>
          </p:cNvGraphicFramePr>
          <p:nvPr/>
        </p:nvGraphicFramePr>
        <p:xfrm>
          <a:off x="6775050" y="2719358"/>
          <a:ext cx="4889662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44831">
                  <a:extLst>
                    <a:ext uri="{9D8B030D-6E8A-4147-A177-3AD203B41FA5}">
                      <a16:colId xmlns:a16="http://schemas.microsoft.com/office/drawing/2014/main" val="735764444"/>
                    </a:ext>
                  </a:extLst>
                </a:gridCol>
                <a:gridCol w="2444831">
                  <a:extLst>
                    <a:ext uri="{9D8B030D-6E8A-4147-A177-3AD203B41FA5}">
                      <a16:colId xmlns:a16="http://schemas.microsoft.com/office/drawing/2014/main" val="13233626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汽車期中名單 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zh-TW" sz="14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原融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篩選條件</a:t>
                      </a:r>
                      <a:endParaRPr lang="zh-TW" sz="14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297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180%</a:t>
                      </a:r>
                      <a:r>
                        <a:rPr lang="zh-TW" sz="14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以上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90%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827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171%~180%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80%</a:t>
                      </a:r>
                      <a:endParaRPr lang="zh-TW" sz="14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6688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161%~170%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70%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28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151%~160%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70%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7203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141%~150%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70%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8775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131%~140%</a:t>
                      </a:r>
                      <a:endParaRPr lang="zh-TW" sz="14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60%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429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130%(</a:t>
                      </a:r>
                      <a:r>
                        <a:rPr lang="zh-TW" sz="14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含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)</a:t>
                      </a:r>
                      <a:r>
                        <a:rPr lang="zh-TW" sz="14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以下</a:t>
                      </a:r>
                      <a:endParaRPr lang="zh-TW" sz="14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-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8230163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A5E5F3B9-655F-3714-8B38-2795C8318B41}"/>
              </a:ext>
            </a:extLst>
          </p:cNvPr>
          <p:cNvSpPr txBox="1"/>
          <p:nvPr/>
        </p:nvSpPr>
        <p:spPr>
          <a:xfrm>
            <a:off x="6645159" y="2211387"/>
            <a:ext cx="5369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汽車期中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他新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針對原融部份另外卡已繳期數邏輯：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D7131DC7-D427-FCDB-D089-97CF9CF171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2381871"/>
              </p:ext>
            </p:extLst>
          </p:nvPr>
        </p:nvGraphicFramePr>
        <p:xfrm>
          <a:off x="417431" y="650218"/>
          <a:ext cx="5786601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68838">
                  <a:extLst>
                    <a:ext uri="{9D8B030D-6E8A-4147-A177-3AD203B41FA5}">
                      <a16:colId xmlns:a16="http://schemas.microsoft.com/office/drawing/2014/main" val="1203993718"/>
                    </a:ext>
                  </a:extLst>
                </a:gridCol>
                <a:gridCol w="1666754">
                  <a:extLst>
                    <a:ext uri="{9D8B030D-6E8A-4147-A177-3AD203B41FA5}">
                      <a16:colId xmlns:a16="http://schemas.microsoft.com/office/drawing/2014/main" val="1518842369"/>
                    </a:ext>
                  </a:extLst>
                </a:gridCol>
                <a:gridCol w="1551009">
                  <a:extLst>
                    <a:ext uri="{9D8B030D-6E8A-4147-A177-3AD203B41FA5}">
                      <a16:colId xmlns:a16="http://schemas.microsoft.com/office/drawing/2014/main" val="368686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汽車名單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撈取期數下限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撈取期數上限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88505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汽車期中名單 </a:t>
                      </a: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–</a:t>
                      </a: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他新中古</a:t>
                      </a: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84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8983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汽車期中名單 </a:t>
                      </a: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–</a:t>
                      </a: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非他新中古</a:t>
                      </a:r>
                      <a:endParaRPr lang="zh-TW" altLang="zh-TW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84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2349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汽車中結名單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52</a:t>
                      </a:r>
                      <a:endParaRPr lang="zh-TW" altLang="en-US" sz="1400" kern="1200" dirty="0">
                        <a:solidFill>
                          <a:srgbClr val="FF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94545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</a:t>
                      </a: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滿期</a:t>
                      </a:r>
                      <a:r>
                        <a:rPr lang="zh-TW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名單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0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3</a:t>
                      </a:r>
                      <a:r>
                        <a:rPr lang="en-US" sz="1400" kern="120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rgbClr val="FF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28482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汽車中結五年名單</a:t>
                      </a:r>
                      <a:endParaRPr lang="zh-TW" altLang="zh-TW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64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68</a:t>
                      </a:r>
                      <a:endParaRPr lang="zh-TW" altLang="en-US" sz="1400" kern="1200" dirty="0">
                        <a:solidFill>
                          <a:srgbClr val="FF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1013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汽車滿期三年名單</a:t>
                      </a:r>
                      <a:endParaRPr lang="zh-TW" altLang="zh-TW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40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44</a:t>
                      </a:r>
                      <a:endParaRPr lang="zh-TW" altLang="en-US" sz="1400" kern="1200" dirty="0">
                        <a:solidFill>
                          <a:srgbClr val="FF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38625392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F9CF4CA7-9443-555D-EAF5-C682F824AD93}"/>
              </a:ext>
            </a:extLst>
          </p:cNvPr>
          <p:cNvSpPr txBox="1"/>
          <p:nvPr/>
        </p:nvSpPr>
        <p:spPr>
          <a:xfrm>
            <a:off x="320424" y="4096013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機車名單、商品名單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B7AD8696-9F2D-89DE-59DA-5B2FDA98D6F5}"/>
              </a:ext>
            </a:extLst>
          </p:cNvPr>
          <p:cNvGraphicFramePr>
            <a:graphicFrameLocks noGrp="1"/>
          </p:cNvGraphicFramePr>
          <p:nvPr/>
        </p:nvGraphicFramePr>
        <p:xfrm>
          <a:off x="454085" y="4544332"/>
          <a:ext cx="5786600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55333">
                  <a:extLst>
                    <a:ext uri="{9D8B030D-6E8A-4147-A177-3AD203B41FA5}">
                      <a16:colId xmlns:a16="http://schemas.microsoft.com/office/drawing/2014/main" val="1455941219"/>
                    </a:ext>
                  </a:extLst>
                </a:gridCol>
                <a:gridCol w="1655179">
                  <a:extLst>
                    <a:ext uri="{9D8B030D-6E8A-4147-A177-3AD203B41FA5}">
                      <a16:colId xmlns:a16="http://schemas.microsoft.com/office/drawing/2014/main" val="3256006518"/>
                    </a:ext>
                  </a:extLst>
                </a:gridCol>
                <a:gridCol w="1576088">
                  <a:extLst>
                    <a:ext uri="{9D8B030D-6E8A-4147-A177-3AD203B41FA5}">
                      <a16:colId xmlns:a16="http://schemas.microsoft.com/office/drawing/2014/main" val="22389387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機車、商品名單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撈取期數下限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撈取期數上限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90025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機車期中名單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18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72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6027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機車中結滿期名單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取消發放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0709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機車中五滿五名單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kern="1200" noProof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取消發放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7643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商品期中名單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取消發放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3775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商品中結滿期名單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取消發放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5353530"/>
                  </a:ext>
                </a:extLst>
              </a:tr>
            </a:tbl>
          </a:graphicData>
        </a:graphic>
      </p:graphicFrame>
      <p:sp>
        <p:nvSpPr>
          <p:cNvPr id="11" name="文字方塊 10">
            <a:extLst>
              <a:ext uri="{FF2B5EF4-FFF2-40B4-BE49-F238E27FC236}">
                <a16:creationId xmlns:a16="http://schemas.microsoft.com/office/drawing/2014/main" id="{E702D9CB-8E4B-675D-9D20-99152B80F738}"/>
              </a:ext>
            </a:extLst>
          </p:cNvPr>
          <p:cNvSpPr txBox="1"/>
          <p:nvPr/>
        </p:nvSpPr>
        <p:spPr>
          <a:xfrm>
            <a:off x="378299" y="3231298"/>
            <a:ext cx="4238661" cy="6990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：汽車中五滿三名單派件方式為各分處平均發放</a:t>
            </a:r>
            <a:endParaRPr lang="en-US" altLang="zh-TW" sz="1400" b="1" dirty="0">
              <a:solidFill>
                <a:schemeClr val="bg1">
                  <a:lumMod val="6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：依職級交換難易名單邏輯於 </a:t>
            </a:r>
            <a:r>
              <a:rPr lang="en-US" altLang="zh-TW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2024/08</a:t>
            </a: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關掉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8FBC379-7712-CC10-53F3-AED8EC5F28BB}"/>
              </a:ext>
            </a:extLst>
          </p:cNvPr>
          <p:cNvSpPr txBox="1"/>
          <p:nvPr/>
        </p:nvSpPr>
        <p:spPr>
          <a:xfrm>
            <a:off x="320424" y="20189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汽車名單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65C73B8-41C9-01F9-C59F-035D67662025}"/>
              </a:ext>
            </a:extLst>
          </p:cNvPr>
          <p:cNvSpPr/>
          <p:nvPr/>
        </p:nvSpPr>
        <p:spPr>
          <a:xfrm>
            <a:off x="6547413" y="2123518"/>
            <a:ext cx="5369718" cy="376384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接點: 肘形 14">
            <a:extLst>
              <a:ext uri="{FF2B5EF4-FFF2-40B4-BE49-F238E27FC236}">
                <a16:creationId xmlns:a16="http://schemas.microsoft.com/office/drawing/2014/main" id="{D2EB26B5-7D27-1066-1689-8AF7B8FF4539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6204032" y="1171922"/>
            <a:ext cx="3028240" cy="951596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94A4986E-B466-CAA0-37A0-71E949DADA56}"/>
              </a:ext>
            </a:extLst>
          </p:cNvPr>
          <p:cNvSpPr txBox="1"/>
          <p:nvPr/>
        </p:nvSpPr>
        <p:spPr>
          <a:xfrm>
            <a:off x="6547413" y="5975234"/>
            <a:ext cx="3344185" cy="6990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：汽機車名單混合發放</a:t>
            </a:r>
            <a:endParaRPr lang="en-US" altLang="zh-TW" sz="1400" b="1" dirty="0">
              <a:solidFill>
                <a:schemeClr val="bg1">
                  <a:lumMod val="6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：汽車名單優先於機車名單進行發放</a:t>
            </a:r>
            <a:endParaRPr lang="en-US" altLang="zh-TW" sz="1400" b="1" dirty="0">
              <a:solidFill>
                <a:schemeClr val="bg1">
                  <a:lumMod val="6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030288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B87EEA-E710-5721-3F7D-920EA66155A5}"/>
              </a:ext>
            </a:extLst>
          </p:cNvPr>
          <p:cNvSpPr txBox="1">
            <a:spLocks/>
          </p:cNvSpPr>
          <p:nvPr/>
        </p:nvSpPr>
        <p:spPr>
          <a:xfrm>
            <a:off x="7078564" y="371413"/>
            <a:ext cx="3935393" cy="399635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名單分派邏輯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–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2024/10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版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83608E8-0FE1-D4AC-6C44-1BE7BCBB61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2687411"/>
              </p:ext>
            </p:extLst>
          </p:nvPr>
        </p:nvGraphicFramePr>
        <p:xfrm>
          <a:off x="6775050" y="2719358"/>
          <a:ext cx="4889662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44831">
                  <a:extLst>
                    <a:ext uri="{9D8B030D-6E8A-4147-A177-3AD203B41FA5}">
                      <a16:colId xmlns:a16="http://schemas.microsoft.com/office/drawing/2014/main" val="735764444"/>
                    </a:ext>
                  </a:extLst>
                </a:gridCol>
                <a:gridCol w="2444831">
                  <a:extLst>
                    <a:ext uri="{9D8B030D-6E8A-4147-A177-3AD203B41FA5}">
                      <a16:colId xmlns:a16="http://schemas.microsoft.com/office/drawing/2014/main" val="13233626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汽車期中名單 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zh-TW" sz="14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原融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篩選條件</a:t>
                      </a:r>
                      <a:endParaRPr lang="zh-TW" sz="14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297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180%</a:t>
                      </a:r>
                      <a:r>
                        <a:rPr lang="zh-TW" sz="14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以上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altLang="zh-TW" sz="14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8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0%</a:t>
                      </a:r>
                      <a:endParaRPr lang="zh-TW" sz="14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827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171%~180%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altLang="zh-TW" sz="14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7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0%</a:t>
                      </a:r>
                      <a:endParaRPr lang="zh-TW" sz="14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6688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161%~170%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70%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28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151%~160%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70%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7203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141%~150%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altLang="zh-TW" sz="14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6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0%</a:t>
                      </a:r>
                      <a:endParaRPr lang="zh-TW" sz="14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8775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131%~140%</a:t>
                      </a:r>
                      <a:endParaRPr lang="zh-TW" sz="14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altLang="zh-TW" sz="14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5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0%</a:t>
                      </a:r>
                      <a:endParaRPr lang="zh-TW" sz="14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429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130%(</a:t>
                      </a:r>
                      <a:r>
                        <a:rPr lang="zh-TW" sz="14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含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)</a:t>
                      </a:r>
                      <a:r>
                        <a:rPr lang="zh-TW" sz="14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以下</a:t>
                      </a:r>
                      <a:endParaRPr lang="zh-TW" sz="14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-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8230163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A5E5F3B9-655F-3714-8B38-2795C8318B41}"/>
              </a:ext>
            </a:extLst>
          </p:cNvPr>
          <p:cNvSpPr txBox="1"/>
          <p:nvPr/>
        </p:nvSpPr>
        <p:spPr>
          <a:xfrm>
            <a:off x="6645159" y="2211387"/>
            <a:ext cx="5369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汽車期中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他新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針對原融部份另外卡已繳期數邏輯：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D7131DC7-D427-FCDB-D089-97CF9CF171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6252132"/>
              </p:ext>
            </p:extLst>
          </p:nvPr>
        </p:nvGraphicFramePr>
        <p:xfrm>
          <a:off x="417431" y="650218"/>
          <a:ext cx="5786601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68838">
                  <a:extLst>
                    <a:ext uri="{9D8B030D-6E8A-4147-A177-3AD203B41FA5}">
                      <a16:colId xmlns:a16="http://schemas.microsoft.com/office/drawing/2014/main" val="1203993718"/>
                    </a:ext>
                  </a:extLst>
                </a:gridCol>
                <a:gridCol w="1666754">
                  <a:extLst>
                    <a:ext uri="{9D8B030D-6E8A-4147-A177-3AD203B41FA5}">
                      <a16:colId xmlns:a16="http://schemas.microsoft.com/office/drawing/2014/main" val="1518842369"/>
                    </a:ext>
                  </a:extLst>
                </a:gridCol>
                <a:gridCol w="1551009">
                  <a:extLst>
                    <a:ext uri="{9D8B030D-6E8A-4147-A177-3AD203B41FA5}">
                      <a16:colId xmlns:a16="http://schemas.microsoft.com/office/drawing/2014/main" val="368686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汽車名單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撈取期數下限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撈取期數上限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88505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汽車期中名單 </a:t>
                      </a: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–</a:t>
                      </a: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他新中古</a:t>
                      </a: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84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8983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汽車期中名單 </a:t>
                      </a: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–</a:t>
                      </a: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非他新中古</a:t>
                      </a:r>
                      <a:endParaRPr lang="zh-TW" altLang="zh-TW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84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2349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汽車中結名單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52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94545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</a:t>
                      </a: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滿期</a:t>
                      </a:r>
                      <a:r>
                        <a:rPr lang="zh-TW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名單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0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3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28482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汽車中結五年名單</a:t>
                      </a:r>
                      <a:endParaRPr lang="zh-TW" altLang="zh-TW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64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68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1013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汽車滿期三年名單</a:t>
                      </a:r>
                      <a:endParaRPr lang="zh-TW" altLang="zh-TW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40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44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38625392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F9CF4CA7-9443-555D-EAF5-C682F824AD93}"/>
              </a:ext>
            </a:extLst>
          </p:cNvPr>
          <p:cNvSpPr txBox="1"/>
          <p:nvPr/>
        </p:nvSpPr>
        <p:spPr>
          <a:xfrm>
            <a:off x="320424" y="4096013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機車名單、商品名單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B7AD8696-9F2D-89DE-59DA-5B2FDA98D6F5}"/>
              </a:ext>
            </a:extLst>
          </p:cNvPr>
          <p:cNvGraphicFramePr>
            <a:graphicFrameLocks noGrp="1"/>
          </p:cNvGraphicFramePr>
          <p:nvPr/>
        </p:nvGraphicFramePr>
        <p:xfrm>
          <a:off x="454085" y="4544332"/>
          <a:ext cx="5786600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55333">
                  <a:extLst>
                    <a:ext uri="{9D8B030D-6E8A-4147-A177-3AD203B41FA5}">
                      <a16:colId xmlns:a16="http://schemas.microsoft.com/office/drawing/2014/main" val="1455941219"/>
                    </a:ext>
                  </a:extLst>
                </a:gridCol>
                <a:gridCol w="1655179">
                  <a:extLst>
                    <a:ext uri="{9D8B030D-6E8A-4147-A177-3AD203B41FA5}">
                      <a16:colId xmlns:a16="http://schemas.microsoft.com/office/drawing/2014/main" val="3256006518"/>
                    </a:ext>
                  </a:extLst>
                </a:gridCol>
                <a:gridCol w="1576088">
                  <a:extLst>
                    <a:ext uri="{9D8B030D-6E8A-4147-A177-3AD203B41FA5}">
                      <a16:colId xmlns:a16="http://schemas.microsoft.com/office/drawing/2014/main" val="22389387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機車、商品名單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撈取期數下限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撈取期數上限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90025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機車期中名單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18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72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6027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機車中結滿期名單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取消發放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0709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機車中五滿五名單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kern="1200" noProof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取消發放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7643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商品期中名單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取消發放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3775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商品中結滿期名單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取消發放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5353530"/>
                  </a:ext>
                </a:extLst>
              </a:tr>
            </a:tbl>
          </a:graphicData>
        </a:graphic>
      </p:graphicFrame>
      <p:sp>
        <p:nvSpPr>
          <p:cNvPr id="11" name="文字方塊 10">
            <a:extLst>
              <a:ext uri="{FF2B5EF4-FFF2-40B4-BE49-F238E27FC236}">
                <a16:creationId xmlns:a16="http://schemas.microsoft.com/office/drawing/2014/main" id="{E702D9CB-8E4B-675D-9D20-99152B80F738}"/>
              </a:ext>
            </a:extLst>
          </p:cNvPr>
          <p:cNvSpPr txBox="1"/>
          <p:nvPr/>
        </p:nvSpPr>
        <p:spPr>
          <a:xfrm>
            <a:off x="378299" y="3231298"/>
            <a:ext cx="4238661" cy="6990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：汽車中五滿三名單派件方式為各分處平均發放</a:t>
            </a:r>
            <a:endParaRPr lang="en-US" altLang="zh-TW" sz="1400" b="1" dirty="0">
              <a:solidFill>
                <a:schemeClr val="bg1">
                  <a:lumMod val="6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：依職級交換難易名單邏輯於 </a:t>
            </a:r>
            <a:r>
              <a:rPr lang="en-US" altLang="zh-TW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2024/08</a:t>
            </a: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關掉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8FBC379-7712-CC10-53F3-AED8EC5F28BB}"/>
              </a:ext>
            </a:extLst>
          </p:cNvPr>
          <p:cNvSpPr txBox="1"/>
          <p:nvPr/>
        </p:nvSpPr>
        <p:spPr>
          <a:xfrm>
            <a:off x="320424" y="20189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汽車名單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65C73B8-41C9-01F9-C59F-035D67662025}"/>
              </a:ext>
            </a:extLst>
          </p:cNvPr>
          <p:cNvSpPr/>
          <p:nvPr/>
        </p:nvSpPr>
        <p:spPr>
          <a:xfrm>
            <a:off x="6547413" y="2123518"/>
            <a:ext cx="5369718" cy="376384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接點: 肘形 14">
            <a:extLst>
              <a:ext uri="{FF2B5EF4-FFF2-40B4-BE49-F238E27FC236}">
                <a16:creationId xmlns:a16="http://schemas.microsoft.com/office/drawing/2014/main" id="{D2EB26B5-7D27-1066-1689-8AF7B8FF4539}"/>
              </a:ext>
            </a:extLst>
          </p:cNvPr>
          <p:cNvCxnSpPr>
            <a:cxnSpLocks/>
          </p:cNvCxnSpPr>
          <p:nvPr/>
        </p:nvCxnSpPr>
        <p:spPr>
          <a:xfrm>
            <a:off x="6240685" y="1162778"/>
            <a:ext cx="2991587" cy="951596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3CAFC493-72CB-5559-FAE5-56AD70A5A289}"/>
              </a:ext>
            </a:extLst>
          </p:cNvPr>
          <p:cNvSpPr txBox="1"/>
          <p:nvPr/>
        </p:nvSpPr>
        <p:spPr>
          <a:xfrm>
            <a:off x="6547413" y="5975234"/>
            <a:ext cx="3344185" cy="6990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：汽機車名單混合發放</a:t>
            </a:r>
            <a:endParaRPr lang="en-US" altLang="zh-TW" sz="1400" b="1" dirty="0">
              <a:solidFill>
                <a:schemeClr val="bg1">
                  <a:lumMod val="6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：汽車名單優先於機車名單進行發放</a:t>
            </a:r>
            <a:endParaRPr lang="en-US" altLang="zh-TW" sz="1400" b="1" dirty="0">
              <a:solidFill>
                <a:schemeClr val="bg1">
                  <a:lumMod val="6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232281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9DDB2-40E2-5647-A936-543041B5C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52917F-5EE9-3486-A5EB-D8319FE10B16}"/>
              </a:ext>
            </a:extLst>
          </p:cNvPr>
          <p:cNvSpPr txBox="1">
            <a:spLocks/>
          </p:cNvSpPr>
          <p:nvPr/>
        </p:nvSpPr>
        <p:spPr>
          <a:xfrm>
            <a:off x="7078564" y="371413"/>
            <a:ext cx="3935393" cy="399635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名單分派邏輯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–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2024/11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版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E0D8228-EC6F-1295-29C7-5F3F9F21E7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3588598"/>
              </p:ext>
            </p:extLst>
          </p:nvPr>
        </p:nvGraphicFramePr>
        <p:xfrm>
          <a:off x="6775050" y="2719358"/>
          <a:ext cx="4889662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44831">
                  <a:extLst>
                    <a:ext uri="{9D8B030D-6E8A-4147-A177-3AD203B41FA5}">
                      <a16:colId xmlns:a16="http://schemas.microsoft.com/office/drawing/2014/main" val="735764444"/>
                    </a:ext>
                  </a:extLst>
                </a:gridCol>
                <a:gridCol w="2444831">
                  <a:extLst>
                    <a:ext uri="{9D8B030D-6E8A-4147-A177-3AD203B41FA5}">
                      <a16:colId xmlns:a16="http://schemas.microsoft.com/office/drawing/2014/main" val="13233626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汽車期中名單 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zh-TW" sz="14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原融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篩選條件</a:t>
                      </a:r>
                      <a:endParaRPr lang="zh-TW" sz="14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297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180%</a:t>
                      </a:r>
                      <a:r>
                        <a:rPr lang="zh-TW" sz="14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以上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8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0%</a:t>
                      </a:r>
                      <a:endParaRPr lang="zh-TW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827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171%~180%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7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0%</a:t>
                      </a:r>
                      <a:endParaRPr lang="zh-TW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6688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161%~170%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70%</a:t>
                      </a:r>
                      <a:endParaRPr lang="zh-TW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28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151%~160%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70%</a:t>
                      </a:r>
                      <a:endParaRPr lang="zh-TW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7203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141%~150%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6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0%</a:t>
                      </a:r>
                      <a:endParaRPr lang="zh-TW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8775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131%~140%</a:t>
                      </a:r>
                      <a:endParaRPr lang="zh-TW" sz="14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5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0%</a:t>
                      </a:r>
                      <a:endParaRPr lang="zh-TW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429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130%(</a:t>
                      </a:r>
                      <a:r>
                        <a:rPr lang="zh-TW" sz="14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含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)</a:t>
                      </a:r>
                      <a:r>
                        <a:rPr lang="zh-TW" sz="14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以下</a:t>
                      </a:r>
                      <a:endParaRPr lang="zh-TW" sz="14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-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8230163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90D0051D-5862-9938-3893-0839DE356AC8}"/>
              </a:ext>
            </a:extLst>
          </p:cNvPr>
          <p:cNvSpPr txBox="1"/>
          <p:nvPr/>
        </p:nvSpPr>
        <p:spPr>
          <a:xfrm>
            <a:off x="6645159" y="2211387"/>
            <a:ext cx="5369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汽車期中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他新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針對原融部份另外卡已繳期數邏輯：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4FBE0818-DF61-2C6C-0554-77F3A6C37D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3458264"/>
              </p:ext>
            </p:extLst>
          </p:nvPr>
        </p:nvGraphicFramePr>
        <p:xfrm>
          <a:off x="417431" y="650218"/>
          <a:ext cx="5786601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68838">
                  <a:extLst>
                    <a:ext uri="{9D8B030D-6E8A-4147-A177-3AD203B41FA5}">
                      <a16:colId xmlns:a16="http://schemas.microsoft.com/office/drawing/2014/main" val="1203993718"/>
                    </a:ext>
                  </a:extLst>
                </a:gridCol>
                <a:gridCol w="1666754">
                  <a:extLst>
                    <a:ext uri="{9D8B030D-6E8A-4147-A177-3AD203B41FA5}">
                      <a16:colId xmlns:a16="http://schemas.microsoft.com/office/drawing/2014/main" val="1518842369"/>
                    </a:ext>
                  </a:extLst>
                </a:gridCol>
                <a:gridCol w="1551009">
                  <a:extLst>
                    <a:ext uri="{9D8B030D-6E8A-4147-A177-3AD203B41FA5}">
                      <a16:colId xmlns:a16="http://schemas.microsoft.com/office/drawing/2014/main" val="368686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汽車名單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撈取期數下限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撈取期數上限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88505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汽車期中名單 </a:t>
                      </a: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–</a:t>
                      </a: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他新中古</a:t>
                      </a: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84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8983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汽車期中名單 </a:t>
                      </a: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–</a:t>
                      </a: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非他新中古</a:t>
                      </a:r>
                      <a:endParaRPr lang="zh-TW" altLang="zh-TW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84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2349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汽車中結名單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44</a:t>
                      </a:r>
                      <a:endParaRPr lang="zh-TW" altLang="en-US" sz="1400" kern="1200" dirty="0">
                        <a:solidFill>
                          <a:srgbClr val="FF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94545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</a:t>
                      </a: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滿期</a:t>
                      </a:r>
                      <a:r>
                        <a:rPr lang="zh-TW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名單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0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24</a:t>
                      </a:r>
                      <a:endParaRPr lang="zh-TW" altLang="en-US" sz="1400" kern="1200" dirty="0">
                        <a:solidFill>
                          <a:srgbClr val="FF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28482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汽車中結五年名單</a:t>
                      </a:r>
                      <a:endParaRPr lang="zh-TW" altLang="zh-TW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64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68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1013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汽車滿期三年名單</a:t>
                      </a:r>
                      <a:endParaRPr lang="zh-TW" altLang="zh-TW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40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44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38625392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7BFDC079-7872-D013-C719-1087B0B2A8FC}"/>
              </a:ext>
            </a:extLst>
          </p:cNvPr>
          <p:cNvSpPr txBox="1"/>
          <p:nvPr/>
        </p:nvSpPr>
        <p:spPr>
          <a:xfrm>
            <a:off x="320424" y="4096013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機車名單、商品名單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A9846CD7-9D7B-60AC-D181-7BDDDA4CF04B}"/>
              </a:ext>
            </a:extLst>
          </p:cNvPr>
          <p:cNvGraphicFramePr>
            <a:graphicFrameLocks noGrp="1"/>
          </p:cNvGraphicFramePr>
          <p:nvPr/>
        </p:nvGraphicFramePr>
        <p:xfrm>
          <a:off x="454085" y="4544332"/>
          <a:ext cx="5786600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55333">
                  <a:extLst>
                    <a:ext uri="{9D8B030D-6E8A-4147-A177-3AD203B41FA5}">
                      <a16:colId xmlns:a16="http://schemas.microsoft.com/office/drawing/2014/main" val="1455941219"/>
                    </a:ext>
                  </a:extLst>
                </a:gridCol>
                <a:gridCol w="1655179">
                  <a:extLst>
                    <a:ext uri="{9D8B030D-6E8A-4147-A177-3AD203B41FA5}">
                      <a16:colId xmlns:a16="http://schemas.microsoft.com/office/drawing/2014/main" val="3256006518"/>
                    </a:ext>
                  </a:extLst>
                </a:gridCol>
                <a:gridCol w="1576088">
                  <a:extLst>
                    <a:ext uri="{9D8B030D-6E8A-4147-A177-3AD203B41FA5}">
                      <a16:colId xmlns:a16="http://schemas.microsoft.com/office/drawing/2014/main" val="22389387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機車、商品名單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撈取期數下限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撈取期數上限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90025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機車期中名單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18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72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6027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機車中結滿期名單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取消發放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0709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機車中五滿五名單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kern="1200" noProof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取消發放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7643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商品期中名單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取消發放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3775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商品中結滿期名單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取消發放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5353530"/>
                  </a:ext>
                </a:extLst>
              </a:tr>
            </a:tbl>
          </a:graphicData>
        </a:graphic>
      </p:graphicFrame>
      <p:sp>
        <p:nvSpPr>
          <p:cNvPr id="11" name="文字方塊 10">
            <a:extLst>
              <a:ext uri="{FF2B5EF4-FFF2-40B4-BE49-F238E27FC236}">
                <a16:creationId xmlns:a16="http://schemas.microsoft.com/office/drawing/2014/main" id="{D352B4CF-ED44-40FE-FCD4-9860762A961E}"/>
              </a:ext>
            </a:extLst>
          </p:cNvPr>
          <p:cNvSpPr txBox="1"/>
          <p:nvPr/>
        </p:nvSpPr>
        <p:spPr>
          <a:xfrm>
            <a:off x="378299" y="3231298"/>
            <a:ext cx="4238661" cy="6990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：汽車中五滿三名單派件方式為各分處平均發放</a:t>
            </a:r>
            <a:endParaRPr lang="en-US" altLang="zh-TW" sz="1400" b="1" dirty="0">
              <a:solidFill>
                <a:schemeClr val="bg1">
                  <a:lumMod val="6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：依職級交換難易名單邏輯於 </a:t>
            </a:r>
            <a:r>
              <a:rPr lang="en-US" altLang="zh-TW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2024/08</a:t>
            </a: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關掉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CB5793CA-414B-0A29-6552-E4D857475133}"/>
              </a:ext>
            </a:extLst>
          </p:cNvPr>
          <p:cNvSpPr txBox="1"/>
          <p:nvPr/>
        </p:nvSpPr>
        <p:spPr>
          <a:xfrm>
            <a:off x="320424" y="20189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汽車名單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2232078-76EF-DEA6-46A1-3F206AE71AD1}"/>
              </a:ext>
            </a:extLst>
          </p:cNvPr>
          <p:cNvSpPr/>
          <p:nvPr/>
        </p:nvSpPr>
        <p:spPr>
          <a:xfrm>
            <a:off x="6547413" y="2123518"/>
            <a:ext cx="5369718" cy="376384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接點: 肘形 14">
            <a:extLst>
              <a:ext uri="{FF2B5EF4-FFF2-40B4-BE49-F238E27FC236}">
                <a16:creationId xmlns:a16="http://schemas.microsoft.com/office/drawing/2014/main" id="{F7598378-4C0B-929A-D03F-5F5FFC92E9ED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6240685" y="1243584"/>
            <a:ext cx="2991587" cy="879934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F007BD78-B6FF-43B0-46C7-0D6BEDB56A7B}"/>
              </a:ext>
            </a:extLst>
          </p:cNvPr>
          <p:cNvSpPr txBox="1"/>
          <p:nvPr/>
        </p:nvSpPr>
        <p:spPr>
          <a:xfrm>
            <a:off x="6547413" y="5975234"/>
            <a:ext cx="3344185" cy="6990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：汽機車名單混合發放</a:t>
            </a:r>
            <a:endParaRPr lang="en-US" altLang="zh-TW" sz="1400" b="1" dirty="0">
              <a:solidFill>
                <a:schemeClr val="bg1">
                  <a:lumMod val="6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：汽車名單優先於機車名單進行發放</a:t>
            </a:r>
            <a:endParaRPr lang="en-US" altLang="zh-TW" sz="1400" b="1" dirty="0">
              <a:solidFill>
                <a:schemeClr val="bg1">
                  <a:lumMod val="6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F056C3AD-219C-8832-5BDD-D312810B52DD}"/>
              </a:ext>
            </a:extLst>
          </p:cNvPr>
          <p:cNvSpPr txBox="1">
            <a:spLocks/>
          </p:cNvSpPr>
          <p:nvPr/>
        </p:nvSpPr>
        <p:spPr>
          <a:xfrm>
            <a:off x="7078564" y="770817"/>
            <a:ext cx="3935393" cy="399635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400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zh-TW" altLang="en-US" sz="2400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因應人數減少調整中結滿期期數</a:t>
            </a:r>
          </a:p>
        </p:txBody>
      </p:sp>
    </p:spTree>
    <p:extLst>
      <p:ext uri="{BB962C8B-B14F-4D97-AF65-F5344CB8AC3E}">
        <p14:creationId xmlns:p14="http://schemas.microsoft.com/office/powerpoint/2010/main" val="39812918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1ED36-685C-5746-FF2B-FADDDFF6A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AFDB62-A677-B55E-616A-B293B5AE06EF}"/>
              </a:ext>
            </a:extLst>
          </p:cNvPr>
          <p:cNvSpPr txBox="1">
            <a:spLocks/>
          </p:cNvSpPr>
          <p:nvPr/>
        </p:nvSpPr>
        <p:spPr>
          <a:xfrm>
            <a:off x="7078564" y="371413"/>
            <a:ext cx="3935393" cy="399635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名單分派邏輯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–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2024/12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版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21435F0B-5263-9A15-A51E-4C9AC67EEEA6}"/>
              </a:ext>
            </a:extLst>
          </p:cNvPr>
          <p:cNvGraphicFramePr>
            <a:graphicFrameLocks noGrp="1"/>
          </p:cNvGraphicFramePr>
          <p:nvPr/>
        </p:nvGraphicFramePr>
        <p:xfrm>
          <a:off x="6775050" y="2719358"/>
          <a:ext cx="4889662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44831">
                  <a:extLst>
                    <a:ext uri="{9D8B030D-6E8A-4147-A177-3AD203B41FA5}">
                      <a16:colId xmlns:a16="http://schemas.microsoft.com/office/drawing/2014/main" val="735764444"/>
                    </a:ext>
                  </a:extLst>
                </a:gridCol>
                <a:gridCol w="2444831">
                  <a:extLst>
                    <a:ext uri="{9D8B030D-6E8A-4147-A177-3AD203B41FA5}">
                      <a16:colId xmlns:a16="http://schemas.microsoft.com/office/drawing/2014/main" val="13233626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汽車期中名單 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zh-TW" sz="14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原融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篩選條件</a:t>
                      </a:r>
                      <a:endParaRPr lang="zh-TW" sz="14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297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180%</a:t>
                      </a:r>
                      <a:r>
                        <a:rPr lang="zh-TW" sz="14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以上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8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0%</a:t>
                      </a:r>
                      <a:endParaRPr lang="zh-TW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827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171%~180%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7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0%</a:t>
                      </a:r>
                      <a:endParaRPr lang="zh-TW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6688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161%~170%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70%</a:t>
                      </a:r>
                      <a:endParaRPr lang="zh-TW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28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151%~160%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70%</a:t>
                      </a:r>
                      <a:endParaRPr lang="zh-TW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7203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141%~150%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6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0%</a:t>
                      </a:r>
                      <a:endParaRPr lang="zh-TW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8775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131%~140%</a:t>
                      </a:r>
                      <a:endParaRPr lang="zh-TW" sz="14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5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0%</a:t>
                      </a:r>
                      <a:endParaRPr lang="zh-TW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429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130%(</a:t>
                      </a:r>
                      <a:r>
                        <a:rPr lang="zh-TW" sz="14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含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)</a:t>
                      </a:r>
                      <a:r>
                        <a:rPr lang="zh-TW" sz="14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以下</a:t>
                      </a:r>
                      <a:endParaRPr lang="zh-TW" sz="14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-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8230163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46827E4A-1DAC-2C56-A1B0-705F0C0624E2}"/>
              </a:ext>
            </a:extLst>
          </p:cNvPr>
          <p:cNvSpPr txBox="1"/>
          <p:nvPr/>
        </p:nvSpPr>
        <p:spPr>
          <a:xfrm>
            <a:off x="6645159" y="2211387"/>
            <a:ext cx="5369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汽車期中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他新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針對原融部份另外卡已繳期數邏輯：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01B760BA-090C-B916-01D2-2D5E656DB7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1082779"/>
              </p:ext>
            </p:extLst>
          </p:nvPr>
        </p:nvGraphicFramePr>
        <p:xfrm>
          <a:off x="417431" y="650218"/>
          <a:ext cx="5786601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68838">
                  <a:extLst>
                    <a:ext uri="{9D8B030D-6E8A-4147-A177-3AD203B41FA5}">
                      <a16:colId xmlns:a16="http://schemas.microsoft.com/office/drawing/2014/main" val="1203993718"/>
                    </a:ext>
                  </a:extLst>
                </a:gridCol>
                <a:gridCol w="1666754">
                  <a:extLst>
                    <a:ext uri="{9D8B030D-6E8A-4147-A177-3AD203B41FA5}">
                      <a16:colId xmlns:a16="http://schemas.microsoft.com/office/drawing/2014/main" val="1518842369"/>
                    </a:ext>
                  </a:extLst>
                </a:gridCol>
                <a:gridCol w="1551009">
                  <a:extLst>
                    <a:ext uri="{9D8B030D-6E8A-4147-A177-3AD203B41FA5}">
                      <a16:colId xmlns:a16="http://schemas.microsoft.com/office/drawing/2014/main" val="368686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汽車名單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撈取期數下限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撈取期數上限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88505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汽車期中名單 </a:t>
                      </a: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–</a:t>
                      </a: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他新中古</a:t>
                      </a: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84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8983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汽車期中名單 </a:t>
                      </a: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–</a:t>
                      </a: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非他新中古</a:t>
                      </a:r>
                      <a:endParaRPr lang="zh-TW" altLang="zh-TW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84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2349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汽車中結名單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u="sng" kern="120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48</a:t>
                      </a:r>
                      <a:endParaRPr lang="zh-TW" altLang="en-US" sz="1400" u="sng" kern="1200" dirty="0">
                        <a:solidFill>
                          <a:srgbClr val="FF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94545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</a:t>
                      </a: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滿期</a:t>
                      </a:r>
                      <a:r>
                        <a:rPr lang="zh-TW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名單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0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u="none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24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28482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汽車中結五年名單</a:t>
                      </a:r>
                      <a:endParaRPr lang="zh-TW" altLang="zh-TW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64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68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1013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汽車滿期三年名單</a:t>
                      </a:r>
                      <a:endParaRPr lang="zh-TW" altLang="zh-TW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40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44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38625392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F20E49B0-C2D2-C47E-08D2-98D8A6882760}"/>
              </a:ext>
            </a:extLst>
          </p:cNvPr>
          <p:cNvSpPr txBox="1"/>
          <p:nvPr/>
        </p:nvSpPr>
        <p:spPr>
          <a:xfrm>
            <a:off x="320424" y="4096013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機車名單、商品名單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E32ADA05-A075-4566-47B6-7829CDEC7C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194163"/>
              </p:ext>
            </p:extLst>
          </p:nvPr>
        </p:nvGraphicFramePr>
        <p:xfrm>
          <a:off x="454085" y="4544332"/>
          <a:ext cx="5379831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55333">
                  <a:extLst>
                    <a:ext uri="{9D8B030D-6E8A-4147-A177-3AD203B41FA5}">
                      <a16:colId xmlns:a16="http://schemas.microsoft.com/office/drawing/2014/main" val="1455941219"/>
                    </a:ext>
                  </a:extLst>
                </a:gridCol>
                <a:gridCol w="1248410">
                  <a:extLst>
                    <a:ext uri="{9D8B030D-6E8A-4147-A177-3AD203B41FA5}">
                      <a16:colId xmlns:a16="http://schemas.microsoft.com/office/drawing/2014/main" val="3256006518"/>
                    </a:ext>
                  </a:extLst>
                </a:gridCol>
                <a:gridCol w="1576088">
                  <a:extLst>
                    <a:ext uri="{9D8B030D-6E8A-4147-A177-3AD203B41FA5}">
                      <a16:colId xmlns:a16="http://schemas.microsoft.com/office/drawing/2014/main" val="22389387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機車、商品名單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撈取期數下限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撈取期數上限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90025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機車期中名單</a:t>
                      </a:r>
                      <a:r>
                        <a:rPr lang="zh-TW" altLang="en-US" sz="140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（不發原融）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18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72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6027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機車中結滿期名單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0</a:t>
                      </a:r>
                      <a:endParaRPr lang="zh-TW" altLang="en-US" sz="1400" kern="1200" dirty="0">
                        <a:solidFill>
                          <a:srgbClr val="FF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</a:t>
                      </a:r>
                      <a:endParaRPr lang="zh-TW" altLang="en-US" sz="1200" dirty="0">
                        <a:solidFill>
                          <a:srgbClr val="FF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0709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機車中五滿五名單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kern="1200" noProof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取消發放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7643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商品期中名單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取消發放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3775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商品中結滿期名單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取消發放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5353530"/>
                  </a:ext>
                </a:extLst>
              </a:tr>
            </a:tbl>
          </a:graphicData>
        </a:graphic>
      </p:graphicFrame>
      <p:sp>
        <p:nvSpPr>
          <p:cNvPr id="11" name="文字方塊 10">
            <a:extLst>
              <a:ext uri="{FF2B5EF4-FFF2-40B4-BE49-F238E27FC236}">
                <a16:creationId xmlns:a16="http://schemas.microsoft.com/office/drawing/2014/main" id="{3ADB415A-56C5-25C6-70D9-4F2546C0910F}"/>
              </a:ext>
            </a:extLst>
          </p:cNvPr>
          <p:cNvSpPr txBox="1"/>
          <p:nvPr/>
        </p:nvSpPr>
        <p:spPr>
          <a:xfrm>
            <a:off x="378299" y="3231298"/>
            <a:ext cx="4238661" cy="6990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：汽車中五滿三名單派件方式為各分處平均發放</a:t>
            </a:r>
            <a:endParaRPr lang="en-US" altLang="zh-TW" sz="1400" b="1" dirty="0">
              <a:solidFill>
                <a:schemeClr val="bg1">
                  <a:lumMod val="6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：依職級交換難易名單邏輯於 </a:t>
            </a:r>
            <a:r>
              <a:rPr lang="en-US" altLang="zh-TW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2024/08</a:t>
            </a: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關掉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D8E8E159-EC9E-F37B-95B0-E0047AEEAAF2}"/>
              </a:ext>
            </a:extLst>
          </p:cNvPr>
          <p:cNvSpPr txBox="1"/>
          <p:nvPr/>
        </p:nvSpPr>
        <p:spPr>
          <a:xfrm>
            <a:off x="320424" y="20189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汽車名單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57A882F-359B-B879-B9AD-DA77B4C9FD61}"/>
              </a:ext>
            </a:extLst>
          </p:cNvPr>
          <p:cNvSpPr/>
          <p:nvPr/>
        </p:nvSpPr>
        <p:spPr>
          <a:xfrm>
            <a:off x="6547413" y="2123518"/>
            <a:ext cx="5369718" cy="376384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接點: 肘形 14">
            <a:extLst>
              <a:ext uri="{FF2B5EF4-FFF2-40B4-BE49-F238E27FC236}">
                <a16:creationId xmlns:a16="http://schemas.microsoft.com/office/drawing/2014/main" id="{FF5C3C9E-A1EF-4A39-07A5-61E5633371D9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6204032" y="1170452"/>
            <a:ext cx="3028240" cy="953066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10E3FE5A-257D-566C-8686-B7A1F9BAC0DA}"/>
              </a:ext>
            </a:extLst>
          </p:cNvPr>
          <p:cNvSpPr txBox="1"/>
          <p:nvPr/>
        </p:nvSpPr>
        <p:spPr>
          <a:xfrm>
            <a:off x="6547413" y="5975234"/>
            <a:ext cx="3344185" cy="6990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：汽機車名單混合發放</a:t>
            </a:r>
            <a:endParaRPr lang="en-US" altLang="zh-TW" sz="1400" b="1" dirty="0">
              <a:solidFill>
                <a:schemeClr val="bg1">
                  <a:lumMod val="6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：汽車名單優先於機車名單進行發放</a:t>
            </a:r>
            <a:endParaRPr lang="en-US" altLang="zh-TW" sz="1400" b="1" dirty="0">
              <a:solidFill>
                <a:schemeClr val="bg1">
                  <a:lumMod val="6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4E61DBF5-B9F5-70B2-D6CF-749E70619E5C}"/>
              </a:ext>
            </a:extLst>
          </p:cNvPr>
          <p:cNvSpPr txBox="1">
            <a:spLocks/>
          </p:cNvSpPr>
          <p:nvPr/>
        </p:nvSpPr>
        <p:spPr>
          <a:xfrm>
            <a:off x="7078564" y="770817"/>
            <a:ext cx="3935393" cy="399635"/>
          </a:xfrm>
          <a:prstGeom prst="rect">
            <a:avLst/>
          </a:prstGeom>
        </p:spPr>
        <p:txBody>
          <a:bodyPr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zh-TW" altLang="en-US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因應機車原融、代償無額度，建議只發放機車自承</a:t>
            </a:r>
            <a:endParaRPr lang="en-US" altLang="zh-TW" sz="24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sz="24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EB406E1D-6618-BCA4-4816-092A8C1FC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84312"/>
            <a:ext cx="9573961" cy="3648584"/>
          </a:xfrm>
          <a:prstGeom prst="rect">
            <a:avLst/>
          </a:prstGeom>
        </p:spPr>
      </p:pic>
      <p:sp>
        <p:nvSpPr>
          <p:cNvPr id="16" name="標題 1">
            <a:extLst>
              <a:ext uri="{FF2B5EF4-FFF2-40B4-BE49-F238E27FC236}">
                <a16:creationId xmlns:a16="http://schemas.microsoft.com/office/drawing/2014/main" id="{646C0DC6-98E2-B7A2-978F-C8D1069E6E3A}"/>
              </a:ext>
            </a:extLst>
          </p:cNvPr>
          <p:cNvSpPr txBox="1">
            <a:spLocks/>
          </p:cNvSpPr>
          <p:nvPr/>
        </p:nvSpPr>
        <p:spPr>
          <a:xfrm>
            <a:off x="7078564" y="1247349"/>
            <a:ext cx="3935393" cy="39963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1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* </a:t>
            </a:r>
            <a:r>
              <a:rPr lang="zh-TW" altLang="en-US" sz="1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修改如下圖示</a:t>
            </a:r>
          </a:p>
        </p:txBody>
      </p:sp>
    </p:spTree>
    <p:extLst>
      <p:ext uri="{BB962C8B-B14F-4D97-AF65-F5344CB8AC3E}">
        <p14:creationId xmlns:p14="http://schemas.microsoft.com/office/powerpoint/2010/main" val="18305639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3C651-B3A2-9E25-FE4E-016918FDC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6FA137-3D3D-A757-1A96-F15B51573404}"/>
              </a:ext>
            </a:extLst>
          </p:cNvPr>
          <p:cNvSpPr txBox="1">
            <a:spLocks/>
          </p:cNvSpPr>
          <p:nvPr/>
        </p:nvSpPr>
        <p:spPr>
          <a:xfrm>
            <a:off x="7078564" y="371413"/>
            <a:ext cx="3935393" cy="399635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名單分派邏輯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–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2025/01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版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B868A83-7C4D-B125-7522-3CC5C9C604DE}"/>
              </a:ext>
            </a:extLst>
          </p:cNvPr>
          <p:cNvGraphicFramePr>
            <a:graphicFrameLocks noGrp="1"/>
          </p:cNvGraphicFramePr>
          <p:nvPr/>
        </p:nvGraphicFramePr>
        <p:xfrm>
          <a:off x="6775050" y="2719358"/>
          <a:ext cx="4889662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44831">
                  <a:extLst>
                    <a:ext uri="{9D8B030D-6E8A-4147-A177-3AD203B41FA5}">
                      <a16:colId xmlns:a16="http://schemas.microsoft.com/office/drawing/2014/main" val="735764444"/>
                    </a:ext>
                  </a:extLst>
                </a:gridCol>
                <a:gridCol w="2444831">
                  <a:extLst>
                    <a:ext uri="{9D8B030D-6E8A-4147-A177-3AD203B41FA5}">
                      <a16:colId xmlns:a16="http://schemas.microsoft.com/office/drawing/2014/main" val="13233626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汽車期中名單 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zh-TW" sz="14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原融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篩選條件</a:t>
                      </a:r>
                      <a:endParaRPr lang="zh-TW" sz="14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297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180%</a:t>
                      </a:r>
                      <a:r>
                        <a:rPr lang="zh-TW" sz="14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以上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8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0%</a:t>
                      </a:r>
                      <a:endParaRPr lang="zh-TW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827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171%~180%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7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0%</a:t>
                      </a:r>
                      <a:endParaRPr lang="zh-TW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6688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161%~170%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70%</a:t>
                      </a:r>
                      <a:endParaRPr lang="zh-TW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28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151%~160%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70%</a:t>
                      </a:r>
                      <a:endParaRPr lang="zh-TW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7203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141%~150%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6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0%</a:t>
                      </a:r>
                      <a:endParaRPr lang="zh-TW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8775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131%~140%</a:t>
                      </a:r>
                      <a:endParaRPr lang="zh-TW" sz="14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5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0%</a:t>
                      </a:r>
                      <a:endParaRPr lang="zh-TW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429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130%(</a:t>
                      </a:r>
                      <a:r>
                        <a:rPr lang="zh-TW" sz="14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含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)</a:t>
                      </a:r>
                      <a:r>
                        <a:rPr lang="zh-TW" sz="14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以下</a:t>
                      </a:r>
                      <a:endParaRPr lang="zh-TW" sz="14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-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8230163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3B0BF057-9900-3F5A-C6DA-41DE8580620C}"/>
              </a:ext>
            </a:extLst>
          </p:cNvPr>
          <p:cNvSpPr txBox="1"/>
          <p:nvPr/>
        </p:nvSpPr>
        <p:spPr>
          <a:xfrm>
            <a:off x="6645159" y="2211387"/>
            <a:ext cx="5369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汽車期中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他新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針對原融部份另外卡已繳期數邏輯：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087A13F5-2D66-88B5-A757-A7E6ADF96A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2476667"/>
              </p:ext>
            </p:extLst>
          </p:nvPr>
        </p:nvGraphicFramePr>
        <p:xfrm>
          <a:off x="417431" y="650218"/>
          <a:ext cx="5782201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68838">
                  <a:extLst>
                    <a:ext uri="{9D8B030D-6E8A-4147-A177-3AD203B41FA5}">
                      <a16:colId xmlns:a16="http://schemas.microsoft.com/office/drawing/2014/main" val="1203993718"/>
                    </a:ext>
                  </a:extLst>
                </a:gridCol>
                <a:gridCol w="1666754">
                  <a:extLst>
                    <a:ext uri="{9D8B030D-6E8A-4147-A177-3AD203B41FA5}">
                      <a16:colId xmlns:a16="http://schemas.microsoft.com/office/drawing/2014/main" val="1518842369"/>
                    </a:ext>
                  </a:extLst>
                </a:gridCol>
                <a:gridCol w="1546609">
                  <a:extLst>
                    <a:ext uri="{9D8B030D-6E8A-4147-A177-3AD203B41FA5}">
                      <a16:colId xmlns:a16="http://schemas.microsoft.com/office/drawing/2014/main" val="368686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汽車名單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撈取期數下限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撈取期數上限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88505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汽車期中名單 </a:t>
                      </a: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–</a:t>
                      </a: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他新中古</a:t>
                      </a: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84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8983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汽車期中名單 </a:t>
                      </a: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–</a:t>
                      </a: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非他新中古</a:t>
                      </a:r>
                      <a:endParaRPr lang="zh-TW" altLang="zh-TW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84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2349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汽車中結名單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u="none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48</a:t>
                      </a:r>
                      <a:endParaRPr lang="zh-TW" altLang="en-US" sz="1400" u="none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94545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</a:t>
                      </a: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滿期</a:t>
                      </a:r>
                      <a:r>
                        <a:rPr lang="zh-TW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名單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0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u="none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24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28482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汽車中結五年名單</a:t>
                      </a:r>
                      <a:endParaRPr lang="zh-TW" altLang="zh-TW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64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68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1013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汽車滿期三年名單</a:t>
                      </a:r>
                      <a:endParaRPr lang="zh-TW" altLang="zh-TW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40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44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38625392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EB00EB0A-DA0E-CD9B-895E-FAF5C22CE80A}"/>
              </a:ext>
            </a:extLst>
          </p:cNvPr>
          <p:cNvSpPr txBox="1"/>
          <p:nvPr/>
        </p:nvSpPr>
        <p:spPr>
          <a:xfrm>
            <a:off x="320424" y="4096013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機車名單、商品名單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F880FF7B-B96C-F93A-10F2-2BEEF3AC47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2172492"/>
              </p:ext>
            </p:extLst>
          </p:nvPr>
        </p:nvGraphicFramePr>
        <p:xfrm>
          <a:off x="454085" y="4544332"/>
          <a:ext cx="5379831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55333">
                  <a:extLst>
                    <a:ext uri="{9D8B030D-6E8A-4147-A177-3AD203B41FA5}">
                      <a16:colId xmlns:a16="http://schemas.microsoft.com/office/drawing/2014/main" val="1455941219"/>
                    </a:ext>
                  </a:extLst>
                </a:gridCol>
                <a:gridCol w="1248410">
                  <a:extLst>
                    <a:ext uri="{9D8B030D-6E8A-4147-A177-3AD203B41FA5}">
                      <a16:colId xmlns:a16="http://schemas.microsoft.com/office/drawing/2014/main" val="3256006518"/>
                    </a:ext>
                  </a:extLst>
                </a:gridCol>
                <a:gridCol w="1576088">
                  <a:extLst>
                    <a:ext uri="{9D8B030D-6E8A-4147-A177-3AD203B41FA5}">
                      <a16:colId xmlns:a16="http://schemas.microsoft.com/office/drawing/2014/main" val="22389387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機車、商品名單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撈取期數下限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撈取期數上限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90025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機車期中名單</a:t>
                      </a:r>
                      <a:r>
                        <a:rPr lang="zh-TW" altLang="en-US" sz="140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（不發原融）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18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1" u="sng" kern="120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60</a:t>
                      </a:r>
                      <a:endParaRPr lang="zh-TW" altLang="en-US" sz="1400" b="1" u="sng" kern="1200" dirty="0">
                        <a:solidFill>
                          <a:srgbClr val="FF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6027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機車中結滿期名單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0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u="none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</a:t>
                      </a:r>
                      <a:endParaRPr lang="zh-TW" altLang="en-US" sz="1400" b="0" u="none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0709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機車中五滿五名單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kern="1200" noProof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取消發放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7643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商品期中名單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取消發放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3775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商品中結滿期名單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取消發放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5353530"/>
                  </a:ext>
                </a:extLst>
              </a:tr>
            </a:tbl>
          </a:graphicData>
        </a:graphic>
      </p:graphicFrame>
      <p:sp>
        <p:nvSpPr>
          <p:cNvPr id="11" name="文字方塊 10">
            <a:extLst>
              <a:ext uri="{FF2B5EF4-FFF2-40B4-BE49-F238E27FC236}">
                <a16:creationId xmlns:a16="http://schemas.microsoft.com/office/drawing/2014/main" id="{9355463A-E714-3202-8E6D-8E7F12D6AB18}"/>
              </a:ext>
            </a:extLst>
          </p:cNvPr>
          <p:cNvSpPr txBox="1"/>
          <p:nvPr/>
        </p:nvSpPr>
        <p:spPr>
          <a:xfrm>
            <a:off x="378299" y="3231298"/>
            <a:ext cx="4238661" cy="6990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：汽車中五滿三名單派件方式為各分處平均發放</a:t>
            </a:r>
            <a:endParaRPr lang="en-US" altLang="zh-TW" sz="1400" b="1" dirty="0">
              <a:solidFill>
                <a:schemeClr val="bg1">
                  <a:lumMod val="6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：依職級交換難易名單邏輯於 </a:t>
            </a:r>
            <a:r>
              <a:rPr lang="en-US" altLang="zh-TW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2024/08</a:t>
            </a: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關掉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788175F-709C-F64B-3B7E-777F2DA93DAD}"/>
              </a:ext>
            </a:extLst>
          </p:cNvPr>
          <p:cNvSpPr txBox="1"/>
          <p:nvPr/>
        </p:nvSpPr>
        <p:spPr>
          <a:xfrm>
            <a:off x="320424" y="20189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汽車名單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523DCA9-8CE0-B063-6B24-C28FFDB18BD9}"/>
              </a:ext>
            </a:extLst>
          </p:cNvPr>
          <p:cNvSpPr/>
          <p:nvPr/>
        </p:nvSpPr>
        <p:spPr>
          <a:xfrm>
            <a:off x="6547413" y="2123518"/>
            <a:ext cx="5369718" cy="376384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接點: 肘形 14">
            <a:extLst>
              <a:ext uri="{FF2B5EF4-FFF2-40B4-BE49-F238E27FC236}">
                <a16:creationId xmlns:a16="http://schemas.microsoft.com/office/drawing/2014/main" id="{2F59F82A-B8C5-D068-F28C-DAAE0996697E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6204032" y="1170452"/>
            <a:ext cx="3028240" cy="953066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CEDF817B-8909-6820-0E04-73D6BB8DE6B2}"/>
              </a:ext>
            </a:extLst>
          </p:cNvPr>
          <p:cNvSpPr txBox="1"/>
          <p:nvPr/>
        </p:nvSpPr>
        <p:spPr>
          <a:xfrm>
            <a:off x="6547413" y="5975234"/>
            <a:ext cx="3344185" cy="6990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：汽機車名單混合發放</a:t>
            </a:r>
            <a:endParaRPr lang="en-US" altLang="zh-TW" sz="1400" b="1" dirty="0">
              <a:solidFill>
                <a:schemeClr val="bg1">
                  <a:lumMod val="6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：汽車名單優先於機車名單進行發放</a:t>
            </a:r>
            <a:endParaRPr lang="en-US" altLang="zh-TW" sz="1400" b="1" dirty="0">
              <a:solidFill>
                <a:schemeClr val="bg1">
                  <a:lumMod val="6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2CB30F73-58C2-C542-EE6C-EB42DE31414C}"/>
              </a:ext>
            </a:extLst>
          </p:cNvPr>
          <p:cNvSpPr txBox="1">
            <a:spLocks/>
          </p:cNvSpPr>
          <p:nvPr/>
        </p:nvSpPr>
        <p:spPr>
          <a:xfrm>
            <a:off x="7078564" y="770817"/>
            <a:ext cx="4140421" cy="399635"/>
          </a:xfrm>
          <a:prstGeom prst="rect">
            <a:avLst/>
          </a:prstGeom>
        </p:spPr>
        <p:txBody>
          <a:bodyPr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zh-TW" altLang="en-US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因應機車多老車無額度，卡 </a:t>
            </a:r>
            <a:r>
              <a:rPr lang="en-US" altLang="zh-TW" sz="2400" u="sng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r>
            <a:r>
              <a:rPr lang="zh-TW" altLang="en-US" sz="2400" u="sng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年以下 </a:t>
            </a:r>
            <a:r>
              <a:rPr lang="zh-TW" altLang="en-US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機車車齡發放</a:t>
            </a:r>
            <a:endParaRPr lang="en-US" altLang="zh-TW" sz="24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sz="24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349821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A0331-9CEF-E92A-E06A-89E2D6C27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FBC3FE-A5D2-0AE4-5E99-DFCF281ECBAB}"/>
              </a:ext>
            </a:extLst>
          </p:cNvPr>
          <p:cNvSpPr txBox="1">
            <a:spLocks/>
          </p:cNvSpPr>
          <p:nvPr/>
        </p:nvSpPr>
        <p:spPr>
          <a:xfrm>
            <a:off x="7078564" y="371413"/>
            <a:ext cx="3935393" cy="399635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名單分派邏輯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–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2025/02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版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4DAD9D1-E8E6-104C-5B12-0E3D7A5A8820}"/>
              </a:ext>
            </a:extLst>
          </p:cNvPr>
          <p:cNvGraphicFramePr>
            <a:graphicFrameLocks noGrp="1"/>
          </p:cNvGraphicFramePr>
          <p:nvPr/>
        </p:nvGraphicFramePr>
        <p:xfrm>
          <a:off x="6775050" y="2719358"/>
          <a:ext cx="4889662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44831">
                  <a:extLst>
                    <a:ext uri="{9D8B030D-6E8A-4147-A177-3AD203B41FA5}">
                      <a16:colId xmlns:a16="http://schemas.microsoft.com/office/drawing/2014/main" val="735764444"/>
                    </a:ext>
                  </a:extLst>
                </a:gridCol>
                <a:gridCol w="2444831">
                  <a:extLst>
                    <a:ext uri="{9D8B030D-6E8A-4147-A177-3AD203B41FA5}">
                      <a16:colId xmlns:a16="http://schemas.microsoft.com/office/drawing/2014/main" val="13233626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汽車期中名單 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zh-TW" sz="14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原融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篩選條件</a:t>
                      </a:r>
                      <a:endParaRPr lang="zh-TW" sz="14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297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180%</a:t>
                      </a:r>
                      <a:r>
                        <a:rPr lang="zh-TW" sz="14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以上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8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0%</a:t>
                      </a:r>
                      <a:endParaRPr lang="zh-TW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827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171%~180%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7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0%</a:t>
                      </a:r>
                      <a:endParaRPr lang="zh-TW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6688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161%~170%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70%</a:t>
                      </a:r>
                      <a:endParaRPr lang="zh-TW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28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151%~160%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70%</a:t>
                      </a:r>
                      <a:endParaRPr lang="zh-TW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7203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141%~150%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6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0%</a:t>
                      </a:r>
                      <a:endParaRPr lang="zh-TW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8775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131%~140%</a:t>
                      </a:r>
                      <a:endParaRPr lang="zh-TW" sz="14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5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0%</a:t>
                      </a:r>
                      <a:endParaRPr lang="zh-TW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429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130%(</a:t>
                      </a:r>
                      <a:r>
                        <a:rPr lang="zh-TW" sz="14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含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)</a:t>
                      </a:r>
                      <a:r>
                        <a:rPr lang="zh-TW" sz="14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以下</a:t>
                      </a:r>
                      <a:endParaRPr lang="zh-TW" sz="14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-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8230163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EE2B4210-6920-2319-E688-68F470B07AF5}"/>
              </a:ext>
            </a:extLst>
          </p:cNvPr>
          <p:cNvSpPr txBox="1"/>
          <p:nvPr/>
        </p:nvSpPr>
        <p:spPr>
          <a:xfrm>
            <a:off x="6645159" y="2211387"/>
            <a:ext cx="5369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汽車期中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他新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針對原融部份另外卡已繳期數邏輯：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DB4DBA6-F7AF-982B-0C0E-212EC8267F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0812553"/>
              </p:ext>
            </p:extLst>
          </p:nvPr>
        </p:nvGraphicFramePr>
        <p:xfrm>
          <a:off x="417431" y="650218"/>
          <a:ext cx="5782201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68838">
                  <a:extLst>
                    <a:ext uri="{9D8B030D-6E8A-4147-A177-3AD203B41FA5}">
                      <a16:colId xmlns:a16="http://schemas.microsoft.com/office/drawing/2014/main" val="1203993718"/>
                    </a:ext>
                  </a:extLst>
                </a:gridCol>
                <a:gridCol w="1666754">
                  <a:extLst>
                    <a:ext uri="{9D8B030D-6E8A-4147-A177-3AD203B41FA5}">
                      <a16:colId xmlns:a16="http://schemas.microsoft.com/office/drawing/2014/main" val="1518842369"/>
                    </a:ext>
                  </a:extLst>
                </a:gridCol>
                <a:gridCol w="1546609">
                  <a:extLst>
                    <a:ext uri="{9D8B030D-6E8A-4147-A177-3AD203B41FA5}">
                      <a16:colId xmlns:a16="http://schemas.microsoft.com/office/drawing/2014/main" val="368686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汽車名單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撈取期數下限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撈取期數上限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88505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汽車期中名單 </a:t>
                      </a: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–</a:t>
                      </a: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他新中古</a:t>
                      </a: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84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8983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汽車期中名單 </a:t>
                      </a: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–</a:t>
                      </a: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非他新中古</a:t>
                      </a:r>
                      <a:endParaRPr lang="zh-TW" altLang="zh-TW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84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2349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汽車中結名單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u="none" kern="120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64</a:t>
                      </a:r>
                      <a:endParaRPr lang="zh-TW" altLang="en-US" sz="1400" u="none" kern="1200" dirty="0">
                        <a:solidFill>
                          <a:srgbClr val="FF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94545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</a:t>
                      </a: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滿期</a:t>
                      </a:r>
                      <a:r>
                        <a:rPr lang="zh-TW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名單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0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u="none" kern="120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40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28482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汽車中結五年名單</a:t>
                      </a:r>
                      <a:endParaRPr lang="zh-TW" altLang="zh-TW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取消發放</a:t>
                      </a: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1013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汽車滿期三年名單</a:t>
                      </a:r>
                      <a:endParaRPr lang="zh-TW" altLang="zh-TW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取消發放</a:t>
                      </a: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38625392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0CFD47F9-D969-B201-1DC5-0C5BA91D3D38}"/>
              </a:ext>
            </a:extLst>
          </p:cNvPr>
          <p:cNvSpPr txBox="1"/>
          <p:nvPr/>
        </p:nvSpPr>
        <p:spPr>
          <a:xfrm>
            <a:off x="320424" y="4096013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機車名單、商品名單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924156A5-B6AF-C5C1-1109-73ADB5FF06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465096"/>
              </p:ext>
            </p:extLst>
          </p:nvPr>
        </p:nvGraphicFramePr>
        <p:xfrm>
          <a:off x="454085" y="4544332"/>
          <a:ext cx="5379831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55333">
                  <a:extLst>
                    <a:ext uri="{9D8B030D-6E8A-4147-A177-3AD203B41FA5}">
                      <a16:colId xmlns:a16="http://schemas.microsoft.com/office/drawing/2014/main" val="1455941219"/>
                    </a:ext>
                  </a:extLst>
                </a:gridCol>
                <a:gridCol w="1248410">
                  <a:extLst>
                    <a:ext uri="{9D8B030D-6E8A-4147-A177-3AD203B41FA5}">
                      <a16:colId xmlns:a16="http://schemas.microsoft.com/office/drawing/2014/main" val="3256006518"/>
                    </a:ext>
                  </a:extLst>
                </a:gridCol>
                <a:gridCol w="1576088">
                  <a:extLst>
                    <a:ext uri="{9D8B030D-6E8A-4147-A177-3AD203B41FA5}">
                      <a16:colId xmlns:a16="http://schemas.microsoft.com/office/drawing/2014/main" val="22389387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機車、商品名單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撈取期數下限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撈取期數上限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90025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機車期中名單</a:t>
                      </a:r>
                      <a:r>
                        <a:rPr lang="zh-TW" altLang="en-US" sz="140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（不發原融）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18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u="none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60</a:t>
                      </a:r>
                      <a:endParaRPr lang="zh-TW" altLang="en-US" sz="1400" b="0" u="none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6027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機車中結滿期名單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0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u="none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</a:t>
                      </a:r>
                      <a:endParaRPr lang="zh-TW" altLang="en-US" sz="1400" b="0" u="none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0709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機車中五滿五名單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kern="1200" noProof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取消發放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7643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商品期中名單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取消發放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3775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商品中結滿期名單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取消發放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5353530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C705D47B-E366-98BC-D9D3-C27340553310}"/>
              </a:ext>
            </a:extLst>
          </p:cNvPr>
          <p:cNvSpPr txBox="1"/>
          <p:nvPr/>
        </p:nvSpPr>
        <p:spPr>
          <a:xfrm>
            <a:off x="320424" y="20189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汽車名單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2122C83-D93D-0C9B-11EA-D73BC9DFE7F3}"/>
              </a:ext>
            </a:extLst>
          </p:cNvPr>
          <p:cNvSpPr/>
          <p:nvPr/>
        </p:nvSpPr>
        <p:spPr>
          <a:xfrm>
            <a:off x="6547413" y="2123518"/>
            <a:ext cx="5369718" cy="376384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接點: 肘形 14">
            <a:extLst>
              <a:ext uri="{FF2B5EF4-FFF2-40B4-BE49-F238E27FC236}">
                <a16:creationId xmlns:a16="http://schemas.microsoft.com/office/drawing/2014/main" id="{3344EDBC-8546-82FD-E2C5-3F2E3EE5540B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6204032" y="1170452"/>
            <a:ext cx="3028240" cy="953066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93298876-F87A-82A3-39E6-D8BC5DD73637}"/>
              </a:ext>
            </a:extLst>
          </p:cNvPr>
          <p:cNvSpPr txBox="1"/>
          <p:nvPr/>
        </p:nvSpPr>
        <p:spPr>
          <a:xfrm>
            <a:off x="6547413" y="5975234"/>
            <a:ext cx="3344185" cy="6990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：汽機車名單混合發放</a:t>
            </a:r>
            <a:endParaRPr lang="en-US" altLang="zh-TW" sz="1400" b="1" dirty="0">
              <a:solidFill>
                <a:schemeClr val="bg1">
                  <a:lumMod val="6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：汽車名單優先於機車名單進行發放</a:t>
            </a:r>
            <a:endParaRPr lang="en-US" altLang="zh-TW" sz="1400" b="1" dirty="0">
              <a:solidFill>
                <a:schemeClr val="bg1">
                  <a:lumMod val="6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AE4210E8-2B76-7422-3612-D92B4A2C80DF}"/>
              </a:ext>
            </a:extLst>
          </p:cNvPr>
          <p:cNvSpPr txBox="1">
            <a:spLocks/>
          </p:cNvSpPr>
          <p:nvPr/>
        </p:nvSpPr>
        <p:spPr>
          <a:xfrm>
            <a:off x="7078564" y="770818"/>
            <a:ext cx="4406300" cy="1048838"/>
          </a:xfrm>
          <a:prstGeom prst="rect">
            <a:avLst/>
          </a:prstGeom>
        </p:spPr>
        <p:txBody>
          <a:bodyPr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因應機車多老車無額度，卡 </a:t>
            </a:r>
            <a:r>
              <a:rPr lang="en-US" altLang="zh-TW" sz="2400" u="sng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r>
            <a:r>
              <a:rPr lang="zh-TW" altLang="en-US" sz="2400" u="sng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年以下 </a:t>
            </a:r>
            <a:r>
              <a:rPr lang="zh-TW" altLang="en-US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機車車齡發放</a:t>
            </a:r>
            <a:endParaRPr lang="en-US" altLang="zh-TW" sz="24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調整分派案件發放順序 取消先發</a:t>
            </a:r>
            <a:r>
              <a:rPr lang="en-US" altLang="zh-TW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C8C9</a:t>
            </a:r>
            <a:r>
              <a:rPr lang="zh-TW" altLang="en-US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案件→打散</a:t>
            </a:r>
            <a:endParaRPr lang="en-US" altLang="zh-TW" sz="24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次月滿期的客戶提前一個月派發</a:t>
            </a:r>
            <a:endParaRPr lang="en-US" altLang="zh-TW" sz="24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70000"/>
              </a:lnSpc>
            </a:pPr>
            <a:endParaRPr lang="zh-TW" altLang="en-US" sz="24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916865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FDA6F-92AF-DC9B-23AA-ECDBFEE23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C8D988-6F0D-88C4-D775-F9C8DF18AACF}"/>
              </a:ext>
            </a:extLst>
          </p:cNvPr>
          <p:cNvSpPr txBox="1">
            <a:spLocks/>
          </p:cNvSpPr>
          <p:nvPr/>
        </p:nvSpPr>
        <p:spPr>
          <a:xfrm>
            <a:off x="7078564" y="371413"/>
            <a:ext cx="3935393" cy="399635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名單分派邏輯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–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2025/03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版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89E8FF4-428B-B88E-48C0-B54C4633D870}"/>
              </a:ext>
            </a:extLst>
          </p:cNvPr>
          <p:cNvGraphicFramePr>
            <a:graphicFrameLocks noGrp="1"/>
          </p:cNvGraphicFramePr>
          <p:nvPr/>
        </p:nvGraphicFramePr>
        <p:xfrm>
          <a:off x="6775050" y="2719358"/>
          <a:ext cx="4889662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44831">
                  <a:extLst>
                    <a:ext uri="{9D8B030D-6E8A-4147-A177-3AD203B41FA5}">
                      <a16:colId xmlns:a16="http://schemas.microsoft.com/office/drawing/2014/main" val="735764444"/>
                    </a:ext>
                  </a:extLst>
                </a:gridCol>
                <a:gridCol w="2444831">
                  <a:extLst>
                    <a:ext uri="{9D8B030D-6E8A-4147-A177-3AD203B41FA5}">
                      <a16:colId xmlns:a16="http://schemas.microsoft.com/office/drawing/2014/main" val="13233626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汽車期中名單 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zh-TW" sz="14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原融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篩選條件</a:t>
                      </a:r>
                      <a:endParaRPr lang="zh-TW" sz="14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297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180%</a:t>
                      </a:r>
                      <a:r>
                        <a:rPr lang="zh-TW" sz="14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以上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8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0%</a:t>
                      </a:r>
                      <a:endParaRPr lang="zh-TW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827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171%~180%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7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0%</a:t>
                      </a:r>
                      <a:endParaRPr lang="zh-TW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6688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161%~170%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70%</a:t>
                      </a:r>
                      <a:endParaRPr lang="zh-TW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28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151%~160%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70%</a:t>
                      </a:r>
                      <a:endParaRPr lang="zh-TW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7203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141%~150%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6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0%</a:t>
                      </a:r>
                      <a:endParaRPr lang="zh-TW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8775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131%~140%</a:t>
                      </a:r>
                      <a:endParaRPr lang="zh-TW" sz="14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5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0%</a:t>
                      </a:r>
                      <a:endParaRPr lang="zh-TW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429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130%(</a:t>
                      </a:r>
                      <a:r>
                        <a:rPr lang="zh-TW" sz="14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含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)</a:t>
                      </a:r>
                      <a:r>
                        <a:rPr lang="zh-TW" sz="14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以下</a:t>
                      </a:r>
                      <a:endParaRPr lang="zh-TW" sz="14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-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8230163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4083DDF5-D2B6-B311-5D03-B843D6ED5B4A}"/>
              </a:ext>
            </a:extLst>
          </p:cNvPr>
          <p:cNvSpPr txBox="1"/>
          <p:nvPr/>
        </p:nvSpPr>
        <p:spPr>
          <a:xfrm>
            <a:off x="6645159" y="2211387"/>
            <a:ext cx="5369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汽車期中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他新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針對原融部份另外卡已繳期數邏輯：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47BB1615-AA4F-786F-98DB-36B82A16A8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2871723"/>
              </p:ext>
            </p:extLst>
          </p:nvPr>
        </p:nvGraphicFramePr>
        <p:xfrm>
          <a:off x="417431" y="650218"/>
          <a:ext cx="5910089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68838">
                  <a:extLst>
                    <a:ext uri="{9D8B030D-6E8A-4147-A177-3AD203B41FA5}">
                      <a16:colId xmlns:a16="http://schemas.microsoft.com/office/drawing/2014/main" val="1203993718"/>
                    </a:ext>
                  </a:extLst>
                </a:gridCol>
                <a:gridCol w="1794642">
                  <a:extLst>
                    <a:ext uri="{9D8B030D-6E8A-4147-A177-3AD203B41FA5}">
                      <a16:colId xmlns:a16="http://schemas.microsoft.com/office/drawing/2014/main" val="1518842369"/>
                    </a:ext>
                  </a:extLst>
                </a:gridCol>
                <a:gridCol w="1546609">
                  <a:extLst>
                    <a:ext uri="{9D8B030D-6E8A-4147-A177-3AD203B41FA5}">
                      <a16:colId xmlns:a16="http://schemas.microsoft.com/office/drawing/2014/main" val="368686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汽車名單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撈取期數下限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撈取期數上限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88505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汽車期中名單 </a:t>
                      </a: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–</a:t>
                      </a: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他新中古</a:t>
                      </a: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84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8983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汽車期中名單 </a:t>
                      </a: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–</a:t>
                      </a: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非他新中古</a:t>
                      </a:r>
                      <a:endParaRPr lang="zh-TW" altLang="zh-TW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84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2349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汽車中結名單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u="none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64</a:t>
                      </a:r>
                      <a:endParaRPr lang="zh-TW" altLang="en-US" sz="1400" u="none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94545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</a:t>
                      </a: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滿期</a:t>
                      </a:r>
                      <a:r>
                        <a:rPr lang="zh-TW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名單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0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u="none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40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28482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汽車中結五年名單</a:t>
                      </a:r>
                      <a:endParaRPr lang="zh-TW" altLang="zh-TW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kern="1200" noProof="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64</a:t>
                      </a:r>
                      <a:endParaRPr lang="zh-TW" altLang="en-US" sz="1400" kern="1200" noProof="0" dirty="0">
                        <a:solidFill>
                          <a:srgbClr val="FF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kern="120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68</a:t>
                      </a:r>
                      <a:endParaRPr sz="1400" kern="1200" dirty="0">
                        <a:solidFill>
                          <a:srgbClr val="FF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1013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汽車滿期三年名單</a:t>
                      </a:r>
                      <a:endParaRPr lang="zh-TW" altLang="zh-TW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kern="1200" noProof="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40</a:t>
                      </a:r>
                      <a:endParaRPr lang="zh-TW" altLang="en-US" sz="1400" kern="1200" noProof="0" dirty="0">
                        <a:solidFill>
                          <a:srgbClr val="FF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kern="120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44</a:t>
                      </a:r>
                      <a:endParaRPr sz="1400" kern="1200" dirty="0">
                        <a:solidFill>
                          <a:srgbClr val="FF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38625392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FC857411-554E-B24D-0515-46C096B2CE44}"/>
              </a:ext>
            </a:extLst>
          </p:cNvPr>
          <p:cNvSpPr txBox="1"/>
          <p:nvPr/>
        </p:nvSpPr>
        <p:spPr>
          <a:xfrm>
            <a:off x="320424" y="3611903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機車名單、商品名單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425B9333-045B-10B5-3527-F58EAEDBBC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891195"/>
              </p:ext>
            </p:extLst>
          </p:nvPr>
        </p:nvGraphicFramePr>
        <p:xfrm>
          <a:off x="454085" y="4060222"/>
          <a:ext cx="5379831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55333">
                  <a:extLst>
                    <a:ext uri="{9D8B030D-6E8A-4147-A177-3AD203B41FA5}">
                      <a16:colId xmlns:a16="http://schemas.microsoft.com/office/drawing/2014/main" val="1455941219"/>
                    </a:ext>
                  </a:extLst>
                </a:gridCol>
                <a:gridCol w="1248410">
                  <a:extLst>
                    <a:ext uri="{9D8B030D-6E8A-4147-A177-3AD203B41FA5}">
                      <a16:colId xmlns:a16="http://schemas.microsoft.com/office/drawing/2014/main" val="3256006518"/>
                    </a:ext>
                  </a:extLst>
                </a:gridCol>
                <a:gridCol w="1576088">
                  <a:extLst>
                    <a:ext uri="{9D8B030D-6E8A-4147-A177-3AD203B41FA5}">
                      <a16:colId xmlns:a16="http://schemas.microsoft.com/office/drawing/2014/main" val="22389387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機車、商品名單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撈取期數下限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撈取期數上限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90025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機車期中名單</a:t>
                      </a:r>
                      <a:r>
                        <a:rPr lang="zh-TW" altLang="en-US" sz="140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（不發原融）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18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u="none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60</a:t>
                      </a:r>
                      <a:endParaRPr lang="zh-TW" altLang="en-US" sz="1400" b="0" u="none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6027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機車中結滿期名單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0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u="none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</a:t>
                      </a:r>
                      <a:endParaRPr lang="zh-TW" altLang="en-US" sz="1400" b="0" u="none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0709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機車中五滿五名單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kern="1200" noProof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取消發放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7643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商品期中名單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取消發放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3775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商品中結滿期名單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取消發放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5353530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67EF7926-FAF2-E6BA-8CE3-BE0B2B312201}"/>
              </a:ext>
            </a:extLst>
          </p:cNvPr>
          <p:cNvSpPr txBox="1"/>
          <p:nvPr/>
        </p:nvSpPr>
        <p:spPr>
          <a:xfrm>
            <a:off x="320424" y="20189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汽車名單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D7100F7-F5F4-2849-E9A2-57672FFF2C8A}"/>
              </a:ext>
            </a:extLst>
          </p:cNvPr>
          <p:cNvSpPr/>
          <p:nvPr/>
        </p:nvSpPr>
        <p:spPr>
          <a:xfrm>
            <a:off x="6547413" y="2123518"/>
            <a:ext cx="5369718" cy="376384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接點: 肘形 14">
            <a:extLst>
              <a:ext uri="{FF2B5EF4-FFF2-40B4-BE49-F238E27FC236}">
                <a16:creationId xmlns:a16="http://schemas.microsoft.com/office/drawing/2014/main" id="{A88DE398-5B28-0A68-A23F-194BEFF7BCFD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6204032" y="1170452"/>
            <a:ext cx="3028240" cy="953066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7101B954-8A77-A2C6-832C-9B357C451F8F}"/>
              </a:ext>
            </a:extLst>
          </p:cNvPr>
          <p:cNvSpPr txBox="1"/>
          <p:nvPr/>
        </p:nvSpPr>
        <p:spPr>
          <a:xfrm>
            <a:off x="6547413" y="5975234"/>
            <a:ext cx="3344185" cy="6990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：汽機車名單混合發放</a:t>
            </a:r>
            <a:endParaRPr lang="en-US" altLang="zh-TW" sz="1400" b="1" dirty="0">
              <a:solidFill>
                <a:schemeClr val="bg1">
                  <a:lumMod val="6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：汽車名單優先於機車名單進行發放</a:t>
            </a:r>
            <a:endParaRPr lang="en-US" altLang="zh-TW" sz="1400" b="1" dirty="0">
              <a:solidFill>
                <a:schemeClr val="bg1">
                  <a:lumMod val="6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139F530-A7A8-9C25-D832-35152FF469AE}"/>
              </a:ext>
            </a:extLst>
          </p:cNvPr>
          <p:cNvSpPr txBox="1"/>
          <p:nvPr/>
        </p:nvSpPr>
        <p:spPr>
          <a:xfrm>
            <a:off x="454084" y="6285262"/>
            <a:ext cx="5379831" cy="375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1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1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：微型電動車因無法設定，將車牌</a:t>
            </a:r>
            <a:r>
              <a:rPr lang="en-US" altLang="zh-TW" sz="1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=</a:t>
            </a:r>
            <a:r>
              <a:rPr lang="zh-TW" altLang="en-US" sz="1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電動車的案件都歸類商品</a:t>
            </a:r>
            <a:endParaRPr lang="en-US" altLang="zh-TW" sz="14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946507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DE835-683A-24EE-2050-225F3CDD7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D2B592-0BB7-16F9-4735-DF92BF4AA24E}"/>
              </a:ext>
            </a:extLst>
          </p:cNvPr>
          <p:cNvSpPr txBox="1">
            <a:spLocks/>
          </p:cNvSpPr>
          <p:nvPr/>
        </p:nvSpPr>
        <p:spPr>
          <a:xfrm>
            <a:off x="7078564" y="371413"/>
            <a:ext cx="3935393" cy="399635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名單分派邏輯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–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2025/04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版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F46C65B-AD91-3A9E-72C1-8ABC1D2ACAE3}"/>
              </a:ext>
            </a:extLst>
          </p:cNvPr>
          <p:cNvGraphicFramePr>
            <a:graphicFrameLocks noGrp="1"/>
          </p:cNvGraphicFramePr>
          <p:nvPr/>
        </p:nvGraphicFramePr>
        <p:xfrm>
          <a:off x="6775050" y="2719358"/>
          <a:ext cx="4889662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44831">
                  <a:extLst>
                    <a:ext uri="{9D8B030D-6E8A-4147-A177-3AD203B41FA5}">
                      <a16:colId xmlns:a16="http://schemas.microsoft.com/office/drawing/2014/main" val="735764444"/>
                    </a:ext>
                  </a:extLst>
                </a:gridCol>
                <a:gridCol w="2444831">
                  <a:extLst>
                    <a:ext uri="{9D8B030D-6E8A-4147-A177-3AD203B41FA5}">
                      <a16:colId xmlns:a16="http://schemas.microsoft.com/office/drawing/2014/main" val="13233626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汽車期中名單 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zh-TW" sz="14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原融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篩選條件</a:t>
                      </a:r>
                      <a:endParaRPr lang="zh-TW" sz="14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297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180%</a:t>
                      </a:r>
                      <a:r>
                        <a:rPr lang="zh-TW" sz="14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以上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8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0%</a:t>
                      </a:r>
                      <a:endParaRPr lang="zh-TW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827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171%~180%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7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0%</a:t>
                      </a:r>
                      <a:endParaRPr lang="zh-TW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6688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161%~170%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70%</a:t>
                      </a:r>
                      <a:endParaRPr lang="zh-TW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28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151%~160%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70%</a:t>
                      </a:r>
                      <a:endParaRPr lang="zh-TW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7203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141%~150%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6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0%</a:t>
                      </a:r>
                      <a:endParaRPr lang="zh-TW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8775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131%~140%</a:t>
                      </a:r>
                      <a:endParaRPr lang="zh-TW" sz="14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5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0%</a:t>
                      </a:r>
                      <a:endParaRPr lang="zh-TW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429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130%(</a:t>
                      </a:r>
                      <a:r>
                        <a:rPr lang="zh-TW" sz="14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含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)</a:t>
                      </a:r>
                      <a:r>
                        <a:rPr lang="zh-TW" sz="14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以下</a:t>
                      </a:r>
                      <a:endParaRPr lang="zh-TW" sz="14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-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8230163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F9E680E1-30C6-9166-953D-CA7057F30883}"/>
              </a:ext>
            </a:extLst>
          </p:cNvPr>
          <p:cNvSpPr txBox="1"/>
          <p:nvPr/>
        </p:nvSpPr>
        <p:spPr>
          <a:xfrm>
            <a:off x="6645159" y="2211387"/>
            <a:ext cx="5369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汽車期中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他新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針對原融部份另外卡已繳期數邏輯：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82AD128D-43EC-8C36-E98A-8A1501978E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9192323"/>
              </p:ext>
            </p:extLst>
          </p:nvPr>
        </p:nvGraphicFramePr>
        <p:xfrm>
          <a:off x="417431" y="650218"/>
          <a:ext cx="5782201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68838">
                  <a:extLst>
                    <a:ext uri="{9D8B030D-6E8A-4147-A177-3AD203B41FA5}">
                      <a16:colId xmlns:a16="http://schemas.microsoft.com/office/drawing/2014/main" val="1203993718"/>
                    </a:ext>
                  </a:extLst>
                </a:gridCol>
                <a:gridCol w="1666754">
                  <a:extLst>
                    <a:ext uri="{9D8B030D-6E8A-4147-A177-3AD203B41FA5}">
                      <a16:colId xmlns:a16="http://schemas.microsoft.com/office/drawing/2014/main" val="1518842369"/>
                    </a:ext>
                  </a:extLst>
                </a:gridCol>
                <a:gridCol w="1546609">
                  <a:extLst>
                    <a:ext uri="{9D8B030D-6E8A-4147-A177-3AD203B41FA5}">
                      <a16:colId xmlns:a16="http://schemas.microsoft.com/office/drawing/2014/main" val="368686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汽車名單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撈取期數下限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撈取期數上限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88505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汽車期中名單 </a:t>
                      </a: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–</a:t>
                      </a: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他新中古</a:t>
                      </a: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84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8983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汽車期中名單 </a:t>
                      </a: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–</a:t>
                      </a: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非他新中古</a:t>
                      </a:r>
                      <a:endParaRPr lang="zh-TW" altLang="zh-TW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84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2349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汽車中結名單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u="none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64</a:t>
                      </a:r>
                      <a:endParaRPr lang="zh-TW" altLang="en-US" sz="1400" u="none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94545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</a:t>
                      </a: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滿期</a:t>
                      </a:r>
                      <a:r>
                        <a:rPr lang="zh-TW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名單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0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u="none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40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28482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汽車中結五年名單</a:t>
                      </a:r>
                      <a:endParaRPr lang="zh-TW" altLang="zh-TW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kern="1200" noProof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64</a:t>
                      </a:r>
                      <a:endParaRPr lang="zh-TW" altLang="en-US" sz="1400" kern="1200" noProof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68</a:t>
                      </a:r>
                      <a:endParaRPr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1013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汽車滿期三年名單</a:t>
                      </a:r>
                      <a:endParaRPr lang="zh-TW" altLang="zh-TW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kern="1200" noProof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40</a:t>
                      </a:r>
                      <a:endParaRPr lang="zh-TW" altLang="en-US" sz="1400" kern="1200" noProof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44</a:t>
                      </a:r>
                      <a:endParaRPr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38625392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2DCECD53-43FD-5B74-5BF8-D944E4FDA0C4}"/>
              </a:ext>
            </a:extLst>
          </p:cNvPr>
          <p:cNvSpPr txBox="1"/>
          <p:nvPr/>
        </p:nvSpPr>
        <p:spPr>
          <a:xfrm>
            <a:off x="320424" y="3611903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機車名單、商品名單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8761826-27FF-54FC-1979-A3125F3E303E}"/>
              </a:ext>
            </a:extLst>
          </p:cNvPr>
          <p:cNvGraphicFramePr>
            <a:graphicFrameLocks noGrp="1"/>
          </p:cNvGraphicFramePr>
          <p:nvPr/>
        </p:nvGraphicFramePr>
        <p:xfrm>
          <a:off x="454085" y="4060222"/>
          <a:ext cx="5379831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55333">
                  <a:extLst>
                    <a:ext uri="{9D8B030D-6E8A-4147-A177-3AD203B41FA5}">
                      <a16:colId xmlns:a16="http://schemas.microsoft.com/office/drawing/2014/main" val="1455941219"/>
                    </a:ext>
                  </a:extLst>
                </a:gridCol>
                <a:gridCol w="1248410">
                  <a:extLst>
                    <a:ext uri="{9D8B030D-6E8A-4147-A177-3AD203B41FA5}">
                      <a16:colId xmlns:a16="http://schemas.microsoft.com/office/drawing/2014/main" val="3256006518"/>
                    </a:ext>
                  </a:extLst>
                </a:gridCol>
                <a:gridCol w="1576088">
                  <a:extLst>
                    <a:ext uri="{9D8B030D-6E8A-4147-A177-3AD203B41FA5}">
                      <a16:colId xmlns:a16="http://schemas.microsoft.com/office/drawing/2014/main" val="22389387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機車、商品名單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撈取期數下限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撈取期數上限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90025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機車期中名單</a:t>
                      </a:r>
                      <a:r>
                        <a:rPr lang="zh-TW" altLang="en-US" sz="140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（不發原融）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18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u="none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60</a:t>
                      </a:r>
                      <a:endParaRPr lang="zh-TW" altLang="en-US" sz="1400" b="0" u="none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6027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機車中結滿期名單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0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u="none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</a:t>
                      </a:r>
                      <a:endParaRPr lang="zh-TW" altLang="en-US" sz="1400" b="0" u="none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0709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機車中五滿五名單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kern="1200" noProof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取消發放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7643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商品期中名單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取消發放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3775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商品中結滿期名單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取消發放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5353530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58475CC2-150E-B41B-0014-360A2D0AC541}"/>
              </a:ext>
            </a:extLst>
          </p:cNvPr>
          <p:cNvSpPr txBox="1"/>
          <p:nvPr/>
        </p:nvSpPr>
        <p:spPr>
          <a:xfrm>
            <a:off x="320424" y="20189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汽車名單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CAE1E09-933A-18FD-6C70-0ECF2FE4139D}"/>
              </a:ext>
            </a:extLst>
          </p:cNvPr>
          <p:cNvSpPr/>
          <p:nvPr/>
        </p:nvSpPr>
        <p:spPr>
          <a:xfrm>
            <a:off x="6547413" y="2123518"/>
            <a:ext cx="5369718" cy="376384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接點: 肘形 14">
            <a:extLst>
              <a:ext uri="{FF2B5EF4-FFF2-40B4-BE49-F238E27FC236}">
                <a16:creationId xmlns:a16="http://schemas.microsoft.com/office/drawing/2014/main" id="{58A083B0-6D6A-10B0-80E9-B31D0F45531F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6204032" y="1170452"/>
            <a:ext cx="3028240" cy="953066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5106A14C-BB24-98F5-683E-620BBF14BC99}"/>
              </a:ext>
            </a:extLst>
          </p:cNvPr>
          <p:cNvSpPr txBox="1"/>
          <p:nvPr/>
        </p:nvSpPr>
        <p:spPr>
          <a:xfrm>
            <a:off x="6547413" y="5975234"/>
            <a:ext cx="3344185" cy="6990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：汽機車名單混合發放</a:t>
            </a:r>
            <a:endParaRPr lang="en-US" altLang="zh-TW" sz="1400" b="1" dirty="0">
              <a:solidFill>
                <a:schemeClr val="bg1">
                  <a:lumMod val="6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：汽車名單優先於機車名單進行發放</a:t>
            </a:r>
            <a:endParaRPr lang="en-US" altLang="zh-TW" sz="1400" b="1" dirty="0">
              <a:solidFill>
                <a:schemeClr val="bg1">
                  <a:lumMod val="6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0A7D954B-EFBD-DB05-A54E-15B5FF20374F}"/>
              </a:ext>
            </a:extLst>
          </p:cNvPr>
          <p:cNvSpPr txBox="1"/>
          <p:nvPr/>
        </p:nvSpPr>
        <p:spPr>
          <a:xfrm>
            <a:off x="454084" y="6285262"/>
            <a:ext cx="5379831" cy="375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1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1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：微型電動車因無法設定，將車牌</a:t>
            </a:r>
            <a:r>
              <a:rPr lang="en-US" altLang="zh-TW" sz="1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=</a:t>
            </a:r>
            <a:r>
              <a:rPr lang="zh-TW" altLang="en-US" sz="1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電動車的案件都歸類商品</a:t>
            </a:r>
            <a:endParaRPr lang="en-US" altLang="zh-TW" sz="14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7803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12CC0-B984-6451-8559-7CC890D06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D7174A-1D36-32BA-57E8-6E3D02D4D524}"/>
              </a:ext>
            </a:extLst>
          </p:cNvPr>
          <p:cNvSpPr txBox="1">
            <a:spLocks/>
          </p:cNvSpPr>
          <p:nvPr/>
        </p:nvSpPr>
        <p:spPr>
          <a:xfrm>
            <a:off x="7078564" y="371413"/>
            <a:ext cx="3935393" cy="399635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名單分派邏輯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–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2025/05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版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00CF403-FD5F-B245-FE96-446CC8A24968}"/>
              </a:ext>
            </a:extLst>
          </p:cNvPr>
          <p:cNvGraphicFramePr>
            <a:graphicFrameLocks noGrp="1"/>
          </p:cNvGraphicFramePr>
          <p:nvPr/>
        </p:nvGraphicFramePr>
        <p:xfrm>
          <a:off x="6775050" y="2719358"/>
          <a:ext cx="4889662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44831">
                  <a:extLst>
                    <a:ext uri="{9D8B030D-6E8A-4147-A177-3AD203B41FA5}">
                      <a16:colId xmlns:a16="http://schemas.microsoft.com/office/drawing/2014/main" val="735764444"/>
                    </a:ext>
                  </a:extLst>
                </a:gridCol>
                <a:gridCol w="2444831">
                  <a:extLst>
                    <a:ext uri="{9D8B030D-6E8A-4147-A177-3AD203B41FA5}">
                      <a16:colId xmlns:a16="http://schemas.microsoft.com/office/drawing/2014/main" val="13233626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汽車期中名單 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zh-TW" sz="14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原融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篩選條件</a:t>
                      </a:r>
                      <a:endParaRPr lang="zh-TW" sz="14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297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180%</a:t>
                      </a:r>
                      <a:r>
                        <a:rPr lang="zh-TW" sz="14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以上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8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0%</a:t>
                      </a:r>
                      <a:endParaRPr lang="zh-TW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827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171%~180%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7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0%</a:t>
                      </a:r>
                      <a:endParaRPr lang="zh-TW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6688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161%~170%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70%</a:t>
                      </a:r>
                      <a:endParaRPr lang="zh-TW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28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151%~160%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70%</a:t>
                      </a:r>
                      <a:endParaRPr lang="zh-TW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7203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141%~150%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6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0%</a:t>
                      </a:r>
                      <a:endParaRPr lang="zh-TW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8775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131%~140%</a:t>
                      </a:r>
                      <a:endParaRPr lang="zh-TW" sz="14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5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0%</a:t>
                      </a:r>
                      <a:endParaRPr lang="zh-TW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429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130%(</a:t>
                      </a:r>
                      <a:r>
                        <a:rPr lang="zh-TW" sz="14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含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)</a:t>
                      </a:r>
                      <a:r>
                        <a:rPr lang="zh-TW" sz="14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以下</a:t>
                      </a:r>
                      <a:endParaRPr lang="zh-TW" sz="14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-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8230163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9369473A-3D7A-7B93-C0C2-279A5220D1F4}"/>
              </a:ext>
            </a:extLst>
          </p:cNvPr>
          <p:cNvSpPr txBox="1"/>
          <p:nvPr/>
        </p:nvSpPr>
        <p:spPr>
          <a:xfrm>
            <a:off x="6645159" y="2211387"/>
            <a:ext cx="5369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汽車期中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他新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針對原融部份另外卡已繳期數邏輯：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3E1AC288-3120-883A-FA6C-FD95553988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1757487"/>
              </p:ext>
            </p:extLst>
          </p:nvPr>
        </p:nvGraphicFramePr>
        <p:xfrm>
          <a:off x="417431" y="650218"/>
          <a:ext cx="5782201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68838">
                  <a:extLst>
                    <a:ext uri="{9D8B030D-6E8A-4147-A177-3AD203B41FA5}">
                      <a16:colId xmlns:a16="http://schemas.microsoft.com/office/drawing/2014/main" val="1203993718"/>
                    </a:ext>
                  </a:extLst>
                </a:gridCol>
                <a:gridCol w="1666754">
                  <a:extLst>
                    <a:ext uri="{9D8B030D-6E8A-4147-A177-3AD203B41FA5}">
                      <a16:colId xmlns:a16="http://schemas.microsoft.com/office/drawing/2014/main" val="1518842369"/>
                    </a:ext>
                  </a:extLst>
                </a:gridCol>
                <a:gridCol w="1546609">
                  <a:extLst>
                    <a:ext uri="{9D8B030D-6E8A-4147-A177-3AD203B41FA5}">
                      <a16:colId xmlns:a16="http://schemas.microsoft.com/office/drawing/2014/main" val="368686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汽車名單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撈取期數下限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撈取期數上限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88505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汽車期中名單 </a:t>
                      </a: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–</a:t>
                      </a: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他新中古</a:t>
                      </a: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84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8983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汽車期中名單 </a:t>
                      </a: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–</a:t>
                      </a: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非他新中古</a:t>
                      </a:r>
                      <a:endParaRPr lang="zh-TW" altLang="zh-TW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84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2349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汽車中結名單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u="none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64</a:t>
                      </a:r>
                      <a:endParaRPr lang="zh-TW" altLang="en-US" sz="1400" u="none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94545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</a:t>
                      </a: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滿期</a:t>
                      </a:r>
                      <a:r>
                        <a:rPr lang="zh-TW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名單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0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u="none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40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28482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汽車中結五年名單</a:t>
                      </a:r>
                      <a:endParaRPr lang="zh-TW" altLang="zh-TW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取消發放</a:t>
                      </a: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1013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汽車滿期三年名單</a:t>
                      </a:r>
                      <a:endParaRPr lang="zh-TW" altLang="zh-TW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取消發放</a:t>
                      </a: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38625392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812AB5BD-5064-8D8B-93BF-665B0AFA6766}"/>
              </a:ext>
            </a:extLst>
          </p:cNvPr>
          <p:cNvSpPr txBox="1"/>
          <p:nvPr/>
        </p:nvSpPr>
        <p:spPr>
          <a:xfrm>
            <a:off x="320424" y="3611903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機車名單、商品名單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E94E16EE-48A6-078A-458C-9A7BBFE02154}"/>
              </a:ext>
            </a:extLst>
          </p:cNvPr>
          <p:cNvGraphicFramePr>
            <a:graphicFrameLocks noGrp="1"/>
          </p:cNvGraphicFramePr>
          <p:nvPr/>
        </p:nvGraphicFramePr>
        <p:xfrm>
          <a:off x="454085" y="4060222"/>
          <a:ext cx="5379831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55333">
                  <a:extLst>
                    <a:ext uri="{9D8B030D-6E8A-4147-A177-3AD203B41FA5}">
                      <a16:colId xmlns:a16="http://schemas.microsoft.com/office/drawing/2014/main" val="1455941219"/>
                    </a:ext>
                  </a:extLst>
                </a:gridCol>
                <a:gridCol w="1248410">
                  <a:extLst>
                    <a:ext uri="{9D8B030D-6E8A-4147-A177-3AD203B41FA5}">
                      <a16:colId xmlns:a16="http://schemas.microsoft.com/office/drawing/2014/main" val="3256006518"/>
                    </a:ext>
                  </a:extLst>
                </a:gridCol>
                <a:gridCol w="1576088">
                  <a:extLst>
                    <a:ext uri="{9D8B030D-6E8A-4147-A177-3AD203B41FA5}">
                      <a16:colId xmlns:a16="http://schemas.microsoft.com/office/drawing/2014/main" val="22389387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機車、商品名單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撈取期數下限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撈取期數上限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90025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機車期中名單</a:t>
                      </a:r>
                      <a:r>
                        <a:rPr lang="zh-TW" altLang="en-US" sz="140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（不發原融）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18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u="none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60</a:t>
                      </a:r>
                      <a:endParaRPr lang="zh-TW" altLang="en-US" sz="1400" b="0" u="none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6027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機車中結滿期名單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0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u="none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</a:t>
                      </a:r>
                      <a:endParaRPr lang="zh-TW" altLang="en-US" sz="1400" b="0" u="none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0709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機車中五滿五名單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kern="1200" noProof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取消發放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7643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商品期中名單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取消發放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3775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商品中結滿期名單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取消發放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5353530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CB8883E8-E198-EB2B-D8CF-C582D4FD1E20}"/>
              </a:ext>
            </a:extLst>
          </p:cNvPr>
          <p:cNvSpPr txBox="1"/>
          <p:nvPr/>
        </p:nvSpPr>
        <p:spPr>
          <a:xfrm>
            <a:off x="320424" y="20189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汽車名單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7487BF9-2216-F596-F730-63DAD66DAF51}"/>
              </a:ext>
            </a:extLst>
          </p:cNvPr>
          <p:cNvSpPr/>
          <p:nvPr/>
        </p:nvSpPr>
        <p:spPr>
          <a:xfrm>
            <a:off x="6547413" y="2123518"/>
            <a:ext cx="5369718" cy="376384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接點: 肘形 14">
            <a:extLst>
              <a:ext uri="{FF2B5EF4-FFF2-40B4-BE49-F238E27FC236}">
                <a16:creationId xmlns:a16="http://schemas.microsoft.com/office/drawing/2014/main" id="{5A33DFFA-3FE3-A95F-B963-23F4A5D4CD29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6204032" y="1170452"/>
            <a:ext cx="3028240" cy="953066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E6F92591-D633-D0DB-7C14-3D6B13A9B59E}"/>
              </a:ext>
            </a:extLst>
          </p:cNvPr>
          <p:cNvSpPr txBox="1"/>
          <p:nvPr/>
        </p:nvSpPr>
        <p:spPr>
          <a:xfrm>
            <a:off x="6547413" y="5975234"/>
            <a:ext cx="3344185" cy="6990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：汽機車名單混合發放</a:t>
            </a:r>
            <a:endParaRPr lang="en-US" altLang="zh-TW" sz="1400" b="1" dirty="0">
              <a:solidFill>
                <a:schemeClr val="bg1">
                  <a:lumMod val="6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：汽車名單優先於機車名單進行發放</a:t>
            </a:r>
            <a:endParaRPr lang="en-US" altLang="zh-TW" sz="1400" b="1" dirty="0">
              <a:solidFill>
                <a:schemeClr val="bg1">
                  <a:lumMod val="6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8BD04E7-C84F-B3F4-3074-8DC4DC07411D}"/>
              </a:ext>
            </a:extLst>
          </p:cNvPr>
          <p:cNvSpPr txBox="1"/>
          <p:nvPr/>
        </p:nvSpPr>
        <p:spPr>
          <a:xfrm>
            <a:off x="454084" y="6285262"/>
            <a:ext cx="5379831" cy="375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1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1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：微型電動車因無法設定，將車牌</a:t>
            </a:r>
            <a:r>
              <a:rPr lang="en-US" altLang="zh-TW" sz="1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=</a:t>
            </a:r>
            <a:r>
              <a:rPr lang="zh-TW" altLang="en-US" sz="1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電動車的案件都歸類商品</a:t>
            </a:r>
            <a:endParaRPr lang="en-US" altLang="zh-TW" sz="14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782479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8AC13-43CB-8588-BEF6-EF36814F9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DAF8CB-4DE7-74CA-2110-128D40394C61}"/>
              </a:ext>
            </a:extLst>
          </p:cNvPr>
          <p:cNvSpPr txBox="1">
            <a:spLocks/>
          </p:cNvSpPr>
          <p:nvPr/>
        </p:nvSpPr>
        <p:spPr>
          <a:xfrm>
            <a:off x="7078564" y="371413"/>
            <a:ext cx="3935393" cy="399635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名單分派邏輯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–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2025/06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版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CABC101F-7597-5DA4-05DD-817A8A88942F}"/>
              </a:ext>
            </a:extLst>
          </p:cNvPr>
          <p:cNvGraphicFramePr>
            <a:graphicFrameLocks noGrp="1"/>
          </p:cNvGraphicFramePr>
          <p:nvPr/>
        </p:nvGraphicFramePr>
        <p:xfrm>
          <a:off x="6775050" y="2719358"/>
          <a:ext cx="4889662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44831">
                  <a:extLst>
                    <a:ext uri="{9D8B030D-6E8A-4147-A177-3AD203B41FA5}">
                      <a16:colId xmlns:a16="http://schemas.microsoft.com/office/drawing/2014/main" val="735764444"/>
                    </a:ext>
                  </a:extLst>
                </a:gridCol>
                <a:gridCol w="2444831">
                  <a:extLst>
                    <a:ext uri="{9D8B030D-6E8A-4147-A177-3AD203B41FA5}">
                      <a16:colId xmlns:a16="http://schemas.microsoft.com/office/drawing/2014/main" val="13233626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汽車期中名單 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zh-TW" sz="14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原融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篩選條件</a:t>
                      </a:r>
                      <a:endParaRPr lang="zh-TW" sz="14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297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180%</a:t>
                      </a:r>
                      <a:r>
                        <a:rPr lang="zh-TW" sz="14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以上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8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0%</a:t>
                      </a:r>
                      <a:endParaRPr lang="zh-TW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827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171%~180%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7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0%</a:t>
                      </a:r>
                      <a:endParaRPr lang="zh-TW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6688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161%~170%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70%</a:t>
                      </a:r>
                      <a:endParaRPr lang="zh-TW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28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151%~160%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70%</a:t>
                      </a:r>
                      <a:endParaRPr lang="zh-TW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7203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141%~150%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6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0%</a:t>
                      </a:r>
                      <a:endParaRPr lang="zh-TW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8775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131%~140%</a:t>
                      </a:r>
                      <a:endParaRPr lang="zh-TW" sz="14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5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0%</a:t>
                      </a:r>
                      <a:endParaRPr lang="zh-TW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429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130%(</a:t>
                      </a:r>
                      <a:r>
                        <a:rPr lang="zh-TW" sz="14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含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)</a:t>
                      </a:r>
                      <a:r>
                        <a:rPr lang="zh-TW" sz="14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以下</a:t>
                      </a:r>
                      <a:endParaRPr lang="zh-TW" sz="14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-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8230163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93DC55C5-1095-A1A4-B3FC-804CF8DC6EFC}"/>
              </a:ext>
            </a:extLst>
          </p:cNvPr>
          <p:cNvSpPr txBox="1"/>
          <p:nvPr/>
        </p:nvSpPr>
        <p:spPr>
          <a:xfrm>
            <a:off x="6645159" y="2211387"/>
            <a:ext cx="5369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汽車期中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他新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針對原融部份另外卡已繳期數邏輯：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DD76270B-49C0-2024-884B-6627183BAA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2933803"/>
              </p:ext>
            </p:extLst>
          </p:nvPr>
        </p:nvGraphicFramePr>
        <p:xfrm>
          <a:off x="417431" y="650218"/>
          <a:ext cx="5782201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68838">
                  <a:extLst>
                    <a:ext uri="{9D8B030D-6E8A-4147-A177-3AD203B41FA5}">
                      <a16:colId xmlns:a16="http://schemas.microsoft.com/office/drawing/2014/main" val="1203993718"/>
                    </a:ext>
                  </a:extLst>
                </a:gridCol>
                <a:gridCol w="1666754">
                  <a:extLst>
                    <a:ext uri="{9D8B030D-6E8A-4147-A177-3AD203B41FA5}">
                      <a16:colId xmlns:a16="http://schemas.microsoft.com/office/drawing/2014/main" val="1518842369"/>
                    </a:ext>
                  </a:extLst>
                </a:gridCol>
                <a:gridCol w="1546609">
                  <a:extLst>
                    <a:ext uri="{9D8B030D-6E8A-4147-A177-3AD203B41FA5}">
                      <a16:colId xmlns:a16="http://schemas.microsoft.com/office/drawing/2014/main" val="368686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汽車名單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撈取期數下限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撈取期數上限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88505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汽車期中名單 </a:t>
                      </a: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–</a:t>
                      </a: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他新中古</a:t>
                      </a: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84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8983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汽車期中名單 </a:t>
                      </a: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–</a:t>
                      </a: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非他新中古</a:t>
                      </a:r>
                      <a:endParaRPr lang="zh-TW" altLang="zh-TW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84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2349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汽車中結名單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u="none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64</a:t>
                      </a:r>
                      <a:endParaRPr lang="zh-TW" altLang="en-US" sz="1400" u="none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94545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</a:t>
                      </a: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滿期</a:t>
                      </a:r>
                      <a:r>
                        <a:rPr lang="zh-TW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名單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0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u="none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40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28482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汽車中結五年名單</a:t>
                      </a:r>
                      <a:endParaRPr lang="zh-TW" altLang="zh-TW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平均發放給廣宣</a:t>
                      </a: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1013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汽車滿期三年名單</a:t>
                      </a:r>
                      <a:endParaRPr lang="zh-TW" altLang="zh-TW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平均發放給廣宣</a:t>
                      </a: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38625392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93CD48D4-A281-6DE7-C2B6-F4EC8B965F28}"/>
              </a:ext>
            </a:extLst>
          </p:cNvPr>
          <p:cNvSpPr txBox="1"/>
          <p:nvPr/>
        </p:nvSpPr>
        <p:spPr>
          <a:xfrm>
            <a:off x="320424" y="3611903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機車名單、商品名單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D5BD608-6181-105D-C83E-A6869D2AB145}"/>
              </a:ext>
            </a:extLst>
          </p:cNvPr>
          <p:cNvGraphicFramePr>
            <a:graphicFrameLocks noGrp="1"/>
          </p:cNvGraphicFramePr>
          <p:nvPr/>
        </p:nvGraphicFramePr>
        <p:xfrm>
          <a:off x="454085" y="4060222"/>
          <a:ext cx="5379831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55333">
                  <a:extLst>
                    <a:ext uri="{9D8B030D-6E8A-4147-A177-3AD203B41FA5}">
                      <a16:colId xmlns:a16="http://schemas.microsoft.com/office/drawing/2014/main" val="1455941219"/>
                    </a:ext>
                  </a:extLst>
                </a:gridCol>
                <a:gridCol w="1248410">
                  <a:extLst>
                    <a:ext uri="{9D8B030D-6E8A-4147-A177-3AD203B41FA5}">
                      <a16:colId xmlns:a16="http://schemas.microsoft.com/office/drawing/2014/main" val="3256006518"/>
                    </a:ext>
                  </a:extLst>
                </a:gridCol>
                <a:gridCol w="1576088">
                  <a:extLst>
                    <a:ext uri="{9D8B030D-6E8A-4147-A177-3AD203B41FA5}">
                      <a16:colId xmlns:a16="http://schemas.microsoft.com/office/drawing/2014/main" val="22389387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機車、商品名單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撈取期數下限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撈取期數上限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90025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機車期中名單</a:t>
                      </a:r>
                      <a:r>
                        <a:rPr lang="zh-TW" altLang="en-US" sz="140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（不發原融）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18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u="none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60</a:t>
                      </a:r>
                      <a:endParaRPr lang="zh-TW" altLang="en-US" sz="1400" b="0" u="none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6027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機車中結滿期名單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0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u="none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</a:t>
                      </a:r>
                      <a:endParaRPr lang="zh-TW" altLang="en-US" sz="1400" b="0" u="none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0709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機車中五滿五名單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kern="1200" noProof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取消發放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7643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商品期中名單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取消發放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3775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商品中結滿期名單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取消發放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5353530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FD2B83AA-2E69-BB69-59C4-2444E444E64A}"/>
              </a:ext>
            </a:extLst>
          </p:cNvPr>
          <p:cNvSpPr txBox="1"/>
          <p:nvPr/>
        </p:nvSpPr>
        <p:spPr>
          <a:xfrm>
            <a:off x="320424" y="20189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汽車名單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6D37A29-850E-C836-6889-7D5CDE3A3895}"/>
              </a:ext>
            </a:extLst>
          </p:cNvPr>
          <p:cNvSpPr/>
          <p:nvPr/>
        </p:nvSpPr>
        <p:spPr>
          <a:xfrm>
            <a:off x="6547413" y="2123518"/>
            <a:ext cx="5369718" cy="376384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接點: 肘形 14">
            <a:extLst>
              <a:ext uri="{FF2B5EF4-FFF2-40B4-BE49-F238E27FC236}">
                <a16:creationId xmlns:a16="http://schemas.microsoft.com/office/drawing/2014/main" id="{882F4E19-08C7-53E8-99E6-C3A4AB2C1CD5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6204032" y="1170452"/>
            <a:ext cx="3028240" cy="953066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BEDFF173-2D99-1116-0726-73D0073EEACA}"/>
              </a:ext>
            </a:extLst>
          </p:cNvPr>
          <p:cNvSpPr txBox="1"/>
          <p:nvPr/>
        </p:nvSpPr>
        <p:spPr>
          <a:xfrm>
            <a:off x="6547413" y="5975234"/>
            <a:ext cx="3344185" cy="6990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：汽機車名單混合發放</a:t>
            </a:r>
            <a:endParaRPr lang="en-US" altLang="zh-TW" sz="1400" b="1" dirty="0">
              <a:solidFill>
                <a:schemeClr val="bg1">
                  <a:lumMod val="6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：汽車名單優先於機車名單進行發放</a:t>
            </a:r>
            <a:endParaRPr lang="en-US" altLang="zh-TW" sz="1400" b="1" dirty="0">
              <a:solidFill>
                <a:schemeClr val="bg1">
                  <a:lumMod val="6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4550E0A-452E-40D4-F668-0B98D63C3B31}"/>
              </a:ext>
            </a:extLst>
          </p:cNvPr>
          <p:cNvSpPr txBox="1"/>
          <p:nvPr/>
        </p:nvSpPr>
        <p:spPr>
          <a:xfrm>
            <a:off x="454084" y="6285262"/>
            <a:ext cx="5379831" cy="375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1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1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：微型電動車因無法設定，將車牌</a:t>
            </a:r>
            <a:r>
              <a:rPr lang="en-US" altLang="zh-TW" sz="1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=</a:t>
            </a:r>
            <a:r>
              <a:rPr lang="zh-TW" altLang="en-US" sz="1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電動車的案件都歸類商品</a:t>
            </a:r>
            <a:endParaRPr lang="en-US" altLang="zh-TW" sz="14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D2B465C-EB4B-7571-1BFE-3E3AB26C4AD9}"/>
              </a:ext>
            </a:extLst>
          </p:cNvPr>
          <p:cNvSpPr txBox="1"/>
          <p:nvPr/>
        </p:nvSpPr>
        <p:spPr>
          <a:xfrm>
            <a:off x="2973072" y="3325085"/>
            <a:ext cx="22669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1" dirty="0">
                <a:solidFill>
                  <a:schemeClr val="bg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1400" b="1" dirty="0">
                <a:solidFill>
                  <a:schemeClr val="bg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1400" b="1" dirty="0">
                <a:solidFill>
                  <a:schemeClr val="bg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：關懷名單發給廣宣組</a:t>
            </a:r>
          </a:p>
        </p:txBody>
      </p:sp>
    </p:spTree>
    <p:extLst>
      <p:ext uri="{BB962C8B-B14F-4D97-AF65-F5344CB8AC3E}">
        <p14:creationId xmlns:p14="http://schemas.microsoft.com/office/powerpoint/2010/main" val="11168205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17504-63B3-6C98-75FD-08C66B23A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63EFD4-E137-26B2-853F-0226AD0D87CB}"/>
              </a:ext>
            </a:extLst>
          </p:cNvPr>
          <p:cNvSpPr txBox="1">
            <a:spLocks/>
          </p:cNvSpPr>
          <p:nvPr/>
        </p:nvSpPr>
        <p:spPr>
          <a:xfrm>
            <a:off x="7078564" y="371413"/>
            <a:ext cx="3935393" cy="399635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名單分派邏輯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–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2025/07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版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B8DE893-C01D-ECF2-4C7C-B089985F7796}"/>
              </a:ext>
            </a:extLst>
          </p:cNvPr>
          <p:cNvGraphicFramePr>
            <a:graphicFrameLocks noGrp="1"/>
          </p:cNvGraphicFramePr>
          <p:nvPr/>
        </p:nvGraphicFramePr>
        <p:xfrm>
          <a:off x="6775050" y="2719358"/>
          <a:ext cx="4889662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44831">
                  <a:extLst>
                    <a:ext uri="{9D8B030D-6E8A-4147-A177-3AD203B41FA5}">
                      <a16:colId xmlns:a16="http://schemas.microsoft.com/office/drawing/2014/main" val="735764444"/>
                    </a:ext>
                  </a:extLst>
                </a:gridCol>
                <a:gridCol w="2444831">
                  <a:extLst>
                    <a:ext uri="{9D8B030D-6E8A-4147-A177-3AD203B41FA5}">
                      <a16:colId xmlns:a16="http://schemas.microsoft.com/office/drawing/2014/main" val="13233626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汽車期中名單 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zh-TW" sz="14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原融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篩選條件</a:t>
                      </a:r>
                      <a:endParaRPr lang="zh-TW" sz="14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297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180%</a:t>
                      </a:r>
                      <a:r>
                        <a:rPr lang="zh-TW" sz="14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以上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8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0%</a:t>
                      </a:r>
                      <a:endParaRPr lang="zh-TW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827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171%~180%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7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0%</a:t>
                      </a:r>
                      <a:endParaRPr lang="zh-TW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6688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161%~170%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70%</a:t>
                      </a:r>
                      <a:endParaRPr lang="zh-TW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28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151%~160%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70%</a:t>
                      </a:r>
                      <a:endParaRPr lang="zh-TW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7203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141%~150%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6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0%</a:t>
                      </a:r>
                      <a:endParaRPr lang="zh-TW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8775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131%~140%</a:t>
                      </a:r>
                      <a:endParaRPr lang="zh-TW" sz="14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5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0%</a:t>
                      </a:r>
                      <a:endParaRPr lang="zh-TW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429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130%(</a:t>
                      </a:r>
                      <a:r>
                        <a:rPr lang="zh-TW" sz="14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含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)</a:t>
                      </a:r>
                      <a:r>
                        <a:rPr lang="zh-TW" sz="14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以下</a:t>
                      </a:r>
                      <a:endParaRPr lang="zh-TW" sz="14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-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8230163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85AA7C7A-0AA9-68A7-7420-AB7EC56275F2}"/>
              </a:ext>
            </a:extLst>
          </p:cNvPr>
          <p:cNvSpPr txBox="1"/>
          <p:nvPr/>
        </p:nvSpPr>
        <p:spPr>
          <a:xfrm>
            <a:off x="6645159" y="2211387"/>
            <a:ext cx="5369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汽車期中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他新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針對原融部份另外卡已繳期數邏輯：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D6E13E9E-C600-3863-8415-291288612E5A}"/>
              </a:ext>
            </a:extLst>
          </p:cNvPr>
          <p:cNvGraphicFramePr>
            <a:graphicFrameLocks noGrp="1"/>
          </p:cNvGraphicFramePr>
          <p:nvPr/>
        </p:nvGraphicFramePr>
        <p:xfrm>
          <a:off x="417431" y="650218"/>
          <a:ext cx="5782201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68838">
                  <a:extLst>
                    <a:ext uri="{9D8B030D-6E8A-4147-A177-3AD203B41FA5}">
                      <a16:colId xmlns:a16="http://schemas.microsoft.com/office/drawing/2014/main" val="1203993718"/>
                    </a:ext>
                  </a:extLst>
                </a:gridCol>
                <a:gridCol w="1666754">
                  <a:extLst>
                    <a:ext uri="{9D8B030D-6E8A-4147-A177-3AD203B41FA5}">
                      <a16:colId xmlns:a16="http://schemas.microsoft.com/office/drawing/2014/main" val="1518842369"/>
                    </a:ext>
                  </a:extLst>
                </a:gridCol>
                <a:gridCol w="1546609">
                  <a:extLst>
                    <a:ext uri="{9D8B030D-6E8A-4147-A177-3AD203B41FA5}">
                      <a16:colId xmlns:a16="http://schemas.microsoft.com/office/drawing/2014/main" val="368686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汽車名單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撈取期數下限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撈取期數上限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88505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汽車期中名單 </a:t>
                      </a: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–</a:t>
                      </a: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他新中古</a:t>
                      </a: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84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8983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汽車期中名單 </a:t>
                      </a: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–</a:t>
                      </a: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非他新中古</a:t>
                      </a:r>
                      <a:endParaRPr lang="zh-TW" altLang="zh-TW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84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2349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汽車中結名單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u="none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64</a:t>
                      </a:r>
                      <a:endParaRPr lang="zh-TW" altLang="en-US" sz="1400" u="none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94545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</a:t>
                      </a: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滿期</a:t>
                      </a:r>
                      <a:r>
                        <a:rPr lang="zh-TW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名單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0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u="none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40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28482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汽車中結五年名單</a:t>
                      </a:r>
                      <a:endParaRPr lang="zh-TW" altLang="zh-TW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平均發放給廣宣</a:t>
                      </a: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1013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汽車滿期三年名單</a:t>
                      </a:r>
                      <a:endParaRPr lang="zh-TW" altLang="zh-TW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平均發放給廣宣</a:t>
                      </a: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38625392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1E0B7B24-47C3-E274-BC41-E1BC3EDF9716}"/>
              </a:ext>
            </a:extLst>
          </p:cNvPr>
          <p:cNvSpPr txBox="1"/>
          <p:nvPr/>
        </p:nvSpPr>
        <p:spPr>
          <a:xfrm>
            <a:off x="320424" y="3611903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機車名單、商品名單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85678FF8-68A0-47EB-28E0-5E761FC397CC}"/>
              </a:ext>
            </a:extLst>
          </p:cNvPr>
          <p:cNvGraphicFramePr>
            <a:graphicFrameLocks noGrp="1"/>
          </p:cNvGraphicFramePr>
          <p:nvPr/>
        </p:nvGraphicFramePr>
        <p:xfrm>
          <a:off x="454085" y="4060222"/>
          <a:ext cx="5379831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55333">
                  <a:extLst>
                    <a:ext uri="{9D8B030D-6E8A-4147-A177-3AD203B41FA5}">
                      <a16:colId xmlns:a16="http://schemas.microsoft.com/office/drawing/2014/main" val="1455941219"/>
                    </a:ext>
                  </a:extLst>
                </a:gridCol>
                <a:gridCol w="1248410">
                  <a:extLst>
                    <a:ext uri="{9D8B030D-6E8A-4147-A177-3AD203B41FA5}">
                      <a16:colId xmlns:a16="http://schemas.microsoft.com/office/drawing/2014/main" val="3256006518"/>
                    </a:ext>
                  </a:extLst>
                </a:gridCol>
                <a:gridCol w="1576088">
                  <a:extLst>
                    <a:ext uri="{9D8B030D-6E8A-4147-A177-3AD203B41FA5}">
                      <a16:colId xmlns:a16="http://schemas.microsoft.com/office/drawing/2014/main" val="22389387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機車、商品名單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撈取期數下限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撈取期數上限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90025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機車期中名單</a:t>
                      </a:r>
                      <a:r>
                        <a:rPr lang="zh-TW" altLang="en-US" sz="140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（不發原融）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18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u="none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60</a:t>
                      </a:r>
                      <a:endParaRPr lang="zh-TW" altLang="en-US" sz="1400" b="0" u="none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6027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機車中結滿期名單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0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u="none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</a:t>
                      </a:r>
                      <a:endParaRPr lang="zh-TW" altLang="en-US" sz="1400" b="0" u="none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0709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機車中五滿五名單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kern="1200" noProof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取消發放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7643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商品期中名單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取消發放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3775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商品中結滿期名單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取消發放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5353530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6001B2B1-3A0D-F0AF-CC3D-F168FF2152EB}"/>
              </a:ext>
            </a:extLst>
          </p:cNvPr>
          <p:cNvSpPr txBox="1"/>
          <p:nvPr/>
        </p:nvSpPr>
        <p:spPr>
          <a:xfrm>
            <a:off x="320424" y="20189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汽車名單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19201F-BA1F-9FE8-86B1-16D6476377A0}"/>
              </a:ext>
            </a:extLst>
          </p:cNvPr>
          <p:cNvSpPr/>
          <p:nvPr/>
        </p:nvSpPr>
        <p:spPr>
          <a:xfrm>
            <a:off x="6547413" y="2123518"/>
            <a:ext cx="5369718" cy="376384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接點: 肘形 14">
            <a:extLst>
              <a:ext uri="{FF2B5EF4-FFF2-40B4-BE49-F238E27FC236}">
                <a16:creationId xmlns:a16="http://schemas.microsoft.com/office/drawing/2014/main" id="{4409A55D-2957-E1D1-2858-74B8B9CBAC89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6204032" y="1170452"/>
            <a:ext cx="3028240" cy="953066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1176BDA8-29E7-4C02-43C5-825A14D765B6}"/>
              </a:ext>
            </a:extLst>
          </p:cNvPr>
          <p:cNvSpPr txBox="1"/>
          <p:nvPr/>
        </p:nvSpPr>
        <p:spPr>
          <a:xfrm>
            <a:off x="6547413" y="5975234"/>
            <a:ext cx="3344185" cy="6990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：汽機車名單混合發放</a:t>
            </a:r>
            <a:endParaRPr lang="en-US" altLang="zh-TW" sz="1400" b="1" dirty="0">
              <a:solidFill>
                <a:schemeClr val="bg1">
                  <a:lumMod val="6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：汽車名單優先於機車名單進行發放</a:t>
            </a:r>
            <a:endParaRPr lang="en-US" altLang="zh-TW" sz="1400" b="1" dirty="0">
              <a:solidFill>
                <a:schemeClr val="bg1">
                  <a:lumMod val="6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AD88ACE-9FF9-1B54-9EC8-EE60781E5AF9}"/>
              </a:ext>
            </a:extLst>
          </p:cNvPr>
          <p:cNvSpPr txBox="1"/>
          <p:nvPr/>
        </p:nvSpPr>
        <p:spPr>
          <a:xfrm>
            <a:off x="454084" y="6285262"/>
            <a:ext cx="5379831" cy="375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1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1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：微型電動車因無法設定，將車牌</a:t>
            </a:r>
            <a:r>
              <a:rPr lang="en-US" altLang="zh-TW" sz="1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=</a:t>
            </a:r>
            <a:r>
              <a:rPr lang="zh-TW" altLang="en-US" sz="1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電動車的案件都歸類商品</a:t>
            </a:r>
            <a:endParaRPr lang="en-US" altLang="zh-TW" sz="14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5D8ED59-CDCE-E6DC-DA93-F243193FA668}"/>
              </a:ext>
            </a:extLst>
          </p:cNvPr>
          <p:cNvSpPr txBox="1"/>
          <p:nvPr/>
        </p:nvSpPr>
        <p:spPr>
          <a:xfrm>
            <a:off x="2973072" y="3325085"/>
            <a:ext cx="22669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1" dirty="0">
                <a:solidFill>
                  <a:schemeClr val="bg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1400" b="1" dirty="0">
                <a:solidFill>
                  <a:schemeClr val="bg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1400" b="1" dirty="0">
                <a:solidFill>
                  <a:schemeClr val="bg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：關懷名單發給廣宣組</a:t>
            </a:r>
          </a:p>
        </p:txBody>
      </p:sp>
    </p:spTree>
    <p:extLst>
      <p:ext uri="{BB962C8B-B14F-4D97-AF65-F5344CB8AC3E}">
        <p14:creationId xmlns:p14="http://schemas.microsoft.com/office/powerpoint/2010/main" val="9924396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835EF-A016-B944-D317-4004F983B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549032-467A-FB8A-50A7-72109499CAF7}"/>
              </a:ext>
            </a:extLst>
          </p:cNvPr>
          <p:cNvSpPr txBox="1">
            <a:spLocks/>
          </p:cNvSpPr>
          <p:nvPr/>
        </p:nvSpPr>
        <p:spPr>
          <a:xfrm>
            <a:off x="7078564" y="371413"/>
            <a:ext cx="3935393" cy="399635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名單分派邏輯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–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2025/08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版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BED2C06-F963-D455-FA73-0EAA52ABEA2E}"/>
              </a:ext>
            </a:extLst>
          </p:cNvPr>
          <p:cNvGraphicFramePr>
            <a:graphicFrameLocks noGrp="1"/>
          </p:cNvGraphicFramePr>
          <p:nvPr/>
        </p:nvGraphicFramePr>
        <p:xfrm>
          <a:off x="6775050" y="2719358"/>
          <a:ext cx="4889662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44831">
                  <a:extLst>
                    <a:ext uri="{9D8B030D-6E8A-4147-A177-3AD203B41FA5}">
                      <a16:colId xmlns:a16="http://schemas.microsoft.com/office/drawing/2014/main" val="735764444"/>
                    </a:ext>
                  </a:extLst>
                </a:gridCol>
                <a:gridCol w="2444831">
                  <a:extLst>
                    <a:ext uri="{9D8B030D-6E8A-4147-A177-3AD203B41FA5}">
                      <a16:colId xmlns:a16="http://schemas.microsoft.com/office/drawing/2014/main" val="13233626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汽車期中名單 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zh-TW" sz="14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原融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篩選條件</a:t>
                      </a:r>
                      <a:endParaRPr lang="zh-TW" sz="14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297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180%</a:t>
                      </a:r>
                      <a:r>
                        <a:rPr lang="zh-TW" sz="14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以上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8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0%</a:t>
                      </a:r>
                      <a:endParaRPr lang="zh-TW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827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171%~180%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7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0%</a:t>
                      </a:r>
                      <a:endParaRPr lang="zh-TW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6688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161%~170%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70%</a:t>
                      </a:r>
                      <a:endParaRPr lang="zh-TW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28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151%~160%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70%</a:t>
                      </a:r>
                      <a:endParaRPr lang="zh-TW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7203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141%~150%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6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0%</a:t>
                      </a:r>
                      <a:endParaRPr lang="zh-TW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8775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131%~140%</a:t>
                      </a:r>
                      <a:endParaRPr lang="zh-TW" sz="14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5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0%</a:t>
                      </a:r>
                      <a:endParaRPr lang="zh-TW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429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130%(</a:t>
                      </a:r>
                      <a:r>
                        <a:rPr lang="zh-TW" sz="14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含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)</a:t>
                      </a:r>
                      <a:r>
                        <a:rPr lang="zh-TW" sz="14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以下</a:t>
                      </a:r>
                      <a:endParaRPr lang="zh-TW" sz="14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-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8230163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8F488DF0-FF66-9B3F-9B6E-F4F0E97191DA}"/>
              </a:ext>
            </a:extLst>
          </p:cNvPr>
          <p:cNvSpPr txBox="1"/>
          <p:nvPr/>
        </p:nvSpPr>
        <p:spPr>
          <a:xfrm>
            <a:off x="6645159" y="2211387"/>
            <a:ext cx="5369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汽車期中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他新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針對原融部份另外卡已繳期數邏輯：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7BC6F37C-86DF-7AA2-031F-2C3C41C2AD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1011725"/>
              </p:ext>
            </p:extLst>
          </p:nvPr>
        </p:nvGraphicFramePr>
        <p:xfrm>
          <a:off x="417431" y="650218"/>
          <a:ext cx="5782201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68838">
                  <a:extLst>
                    <a:ext uri="{9D8B030D-6E8A-4147-A177-3AD203B41FA5}">
                      <a16:colId xmlns:a16="http://schemas.microsoft.com/office/drawing/2014/main" val="1203993718"/>
                    </a:ext>
                  </a:extLst>
                </a:gridCol>
                <a:gridCol w="1666754">
                  <a:extLst>
                    <a:ext uri="{9D8B030D-6E8A-4147-A177-3AD203B41FA5}">
                      <a16:colId xmlns:a16="http://schemas.microsoft.com/office/drawing/2014/main" val="1518842369"/>
                    </a:ext>
                  </a:extLst>
                </a:gridCol>
                <a:gridCol w="1546609">
                  <a:extLst>
                    <a:ext uri="{9D8B030D-6E8A-4147-A177-3AD203B41FA5}">
                      <a16:colId xmlns:a16="http://schemas.microsoft.com/office/drawing/2014/main" val="368686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汽車名單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撈取期數下限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撈取期數上限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88505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汽車期中名單 </a:t>
                      </a: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–</a:t>
                      </a: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他新中古</a:t>
                      </a: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84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8983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汽車期中名單 </a:t>
                      </a: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–</a:t>
                      </a: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非他新中古</a:t>
                      </a:r>
                      <a:endParaRPr lang="zh-TW" altLang="zh-TW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84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2349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汽車中結名單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u="none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64</a:t>
                      </a:r>
                      <a:endParaRPr lang="zh-TW" altLang="en-US" sz="1400" u="none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94545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</a:t>
                      </a: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滿期</a:t>
                      </a:r>
                      <a:r>
                        <a:rPr lang="zh-TW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名單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0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u="none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40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28482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汽車中結五年名單</a:t>
                      </a:r>
                      <a:endParaRPr lang="zh-TW" altLang="zh-TW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平均發放給一般組</a:t>
                      </a: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1013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汽車滿期三年名單</a:t>
                      </a:r>
                      <a:endParaRPr lang="zh-TW" altLang="zh-TW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平均發放給一般組</a:t>
                      </a: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38625392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66B781A0-CC34-C87E-8263-13D66E01D571}"/>
              </a:ext>
            </a:extLst>
          </p:cNvPr>
          <p:cNvSpPr txBox="1"/>
          <p:nvPr/>
        </p:nvSpPr>
        <p:spPr>
          <a:xfrm>
            <a:off x="320424" y="3611903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機車名單、商品名單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35E07656-03EC-08A8-7BD1-DEF039769923}"/>
              </a:ext>
            </a:extLst>
          </p:cNvPr>
          <p:cNvGraphicFramePr>
            <a:graphicFrameLocks noGrp="1"/>
          </p:cNvGraphicFramePr>
          <p:nvPr/>
        </p:nvGraphicFramePr>
        <p:xfrm>
          <a:off x="454085" y="4060222"/>
          <a:ext cx="5379831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55333">
                  <a:extLst>
                    <a:ext uri="{9D8B030D-6E8A-4147-A177-3AD203B41FA5}">
                      <a16:colId xmlns:a16="http://schemas.microsoft.com/office/drawing/2014/main" val="1455941219"/>
                    </a:ext>
                  </a:extLst>
                </a:gridCol>
                <a:gridCol w="1248410">
                  <a:extLst>
                    <a:ext uri="{9D8B030D-6E8A-4147-A177-3AD203B41FA5}">
                      <a16:colId xmlns:a16="http://schemas.microsoft.com/office/drawing/2014/main" val="3256006518"/>
                    </a:ext>
                  </a:extLst>
                </a:gridCol>
                <a:gridCol w="1576088">
                  <a:extLst>
                    <a:ext uri="{9D8B030D-6E8A-4147-A177-3AD203B41FA5}">
                      <a16:colId xmlns:a16="http://schemas.microsoft.com/office/drawing/2014/main" val="22389387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機車、商品名單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撈取期數下限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撈取期數上限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90025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機車期中名單</a:t>
                      </a:r>
                      <a:r>
                        <a:rPr lang="zh-TW" altLang="en-US" sz="140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（不發原融）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18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u="none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60</a:t>
                      </a:r>
                      <a:endParaRPr lang="zh-TW" altLang="en-US" sz="1400" b="0" u="none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6027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機車中結滿期名單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0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u="none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</a:t>
                      </a:r>
                      <a:endParaRPr lang="zh-TW" altLang="en-US" sz="1400" b="0" u="none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0709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機車中五滿五名單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kern="1200" noProof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取消發放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7643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商品期中名單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取消發放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3775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商品中結滿期名單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取消發放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5353530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F30F87DC-70E6-A606-A931-F03A9ED4701A}"/>
              </a:ext>
            </a:extLst>
          </p:cNvPr>
          <p:cNvSpPr txBox="1"/>
          <p:nvPr/>
        </p:nvSpPr>
        <p:spPr>
          <a:xfrm>
            <a:off x="320424" y="20189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汽車名單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32E1DDA-6CC6-309B-116F-21DD9EB2E57D}"/>
              </a:ext>
            </a:extLst>
          </p:cNvPr>
          <p:cNvSpPr/>
          <p:nvPr/>
        </p:nvSpPr>
        <p:spPr>
          <a:xfrm>
            <a:off x="6547413" y="2123518"/>
            <a:ext cx="5369718" cy="376384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接點: 肘形 14">
            <a:extLst>
              <a:ext uri="{FF2B5EF4-FFF2-40B4-BE49-F238E27FC236}">
                <a16:creationId xmlns:a16="http://schemas.microsoft.com/office/drawing/2014/main" id="{26F8C105-886A-CE8A-2E3C-282536C5D74A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6204032" y="1170452"/>
            <a:ext cx="3028240" cy="953066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2AD8859F-AF64-79DA-543D-79EDCB256E91}"/>
              </a:ext>
            </a:extLst>
          </p:cNvPr>
          <p:cNvSpPr txBox="1"/>
          <p:nvPr/>
        </p:nvSpPr>
        <p:spPr>
          <a:xfrm>
            <a:off x="6547413" y="5975234"/>
            <a:ext cx="3344185" cy="6990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：汽機車名單混合發放</a:t>
            </a:r>
            <a:endParaRPr lang="en-US" altLang="zh-TW" sz="1400" b="1" dirty="0">
              <a:solidFill>
                <a:schemeClr val="bg1">
                  <a:lumMod val="6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：汽車名單優先於機車名單進行發放</a:t>
            </a:r>
            <a:endParaRPr lang="en-US" altLang="zh-TW" sz="1400" b="1" dirty="0">
              <a:solidFill>
                <a:schemeClr val="bg1">
                  <a:lumMod val="6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B342BA4-489C-C54C-AFD0-E49B0BE18DAF}"/>
              </a:ext>
            </a:extLst>
          </p:cNvPr>
          <p:cNvSpPr txBox="1"/>
          <p:nvPr/>
        </p:nvSpPr>
        <p:spPr>
          <a:xfrm>
            <a:off x="454084" y="6285262"/>
            <a:ext cx="5379831" cy="375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1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1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：微型電動車因無法設定，將車牌</a:t>
            </a:r>
            <a:r>
              <a:rPr lang="en-US" altLang="zh-TW" sz="1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=</a:t>
            </a:r>
            <a:r>
              <a:rPr lang="zh-TW" altLang="en-US" sz="1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電動車的案件都歸類商品</a:t>
            </a:r>
            <a:endParaRPr lang="en-US" altLang="zh-TW" sz="14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7A3623A-4BBD-4744-A4AC-D03BACA3441C}"/>
              </a:ext>
            </a:extLst>
          </p:cNvPr>
          <p:cNvSpPr txBox="1"/>
          <p:nvPr/>
        </p:nvSpPr>
        <p:spPr>
          <a:xfrm>
            <a:off x="2973072" y="3325085"/>
            <a:ext cx="22669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1" dirty="0">
                <a:solidFill>
                  <a:schemeClr val="bg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1400" b="1" dirty="0">
                <a:solidFill>
                  <a:schemeClr val="bg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1400" b="1" dirty="0">
                <a:solidFill>
                  <a:schemeClr val="bg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：關懷名單發給廣宣組</a:t>
            </a:r>
          </a:p>
        </p:txBody>
      </p:sp>
    </p:spTree>
    <p:extLst>
      <p:ext uri="{BB962C8B-B14F-4D97-AF65-F5344CB8AC3E}">
        <p14:creationId xmlns:p14="http://schemas.microsoft.com/office/powerpoint/2010/main" val="4645087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C98A8-4398-F3C9-78D5-94F47931C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853775-D1EB-6D2C-A279-FB16FD137E70}"/>
              </a:ext>
            </a:extLst>
          </p:cNvPr>
          <p:cNvSpPr txBox="1">
            <a:spLocks/>
          </p:cNvSpPr>
          <p:nvPr/>
        </p:nvSpPr>
        <p:spPr>
          <a:xfrm>
            <a:off x="7078564" y="371413"/>
            <a:ext cx="3935393" cy="399635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名單分派邏輯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–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2025/09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版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B8C5724-E4A4-B8EB-CACA-C25E5870FB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0415367"/>
              </p:ext>
            </p:extLst>
          </p:nvPr>
        </p:nvGraphicFramePr>
        <p:xfrm>
          <a:off x="6775050" y="2719358"/>
          <a:ext cx="4889662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44831">
                  <a:extLst>
                    <a:ext uri="{9D8B030D-6E8A-4147-A177-3AD203B41FA5}">
                      <a16:colId xmlns:a16="http://schemas.microsoft.com/office/drawing/2014/main" val="735764444"/>
                    </a:ext>
                  </a:extLst>
                </a:gridCol>
                <a:gridCol w="2444831">
                  <a:extLst>
                    <a:ext uri="{9D8B030D-6E8A-4147-A177-3AD203B41FA5}">
                      <a16:colId xmlns:a16="http://schemas.microsoft.com/office/drawing/2014/main" val="13233626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汽車期中名單 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zh-TW" sz="14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原融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篩選條件</a:t>
                      </a:r>
                      <a:endParaRPr lang="zh-TW" sz="14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297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180%</a:t>
                      </a:r>
                      <a:r>
                        <a:rPr lang="zh-TW" sz="14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以上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altLang="zh-TW" sz="14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7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0%</a:t>
                      </a:r>
                      <a:endParaRPr lang="zh-TW" sz="14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827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171%~180%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altLang="zh-TW" sz="14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6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0%</a:t>
                      </a:r>
                      <a:endParaRPr lang="zh-TW" sz="14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6688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161%~170%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altLang="zh-TW" sz="14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6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0%</a:t>
                      </a:r>
                      <a:endParaRPr lang="zh-TW" sz="14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28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151%~160%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altLang="zh-TW" sz="14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6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0%</a:t>
                      </a:r>
                      <a:endParaRPr lang="zh-TW" sz="14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7203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141%~150%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altLang="zh-TW" sz="14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5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0%</a:t>
                      </a:r>
                      <a:endParaRPr lang="zh-TW" sz="14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8775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131%~140%</a:t>
                      </a:r>
                      <a:endParaRPr lang="zh-TW" sz="14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4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已繳期數比例大於</a:t>
                      </a:r>
                      <a:r>
                        <a:rPr lang="en-US" altLang="zh-TW" sz="14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4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0%</a:t>
                      </a:r>
                      <a:endParaRPr lang="zh-TW" sz="14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429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130%(</a:t>
                      </a:r>
                      <a:r>
                        <a:rPr lang="zh-TW" sz="14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含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)</a:t>
                      </a:r>
                      <a:r>
                        <a:rPr lang="zh-TW" sz="14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以下</a:t>
                      </a:r>
                      <a:endParaRPr lang="zh-TW" sz="14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-</a:t>
                      </a:r>
                      <a:endParaRPr lang="zh-TW" sz="14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8230163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D9C446CC-80A8-E746-84A1-2F1EB3C68DB4}"/>
              </a:ext>
            </a:extLst>
          </p:cNvPr>
          <p:cNvSpPr txBox="1"/>
          <p:nvPr/>
        </p:nvSpPr>
        <p:spPr>
          <a:xfrm>
            <a:off x="6645159" y="2211387"/>
            <a:ext cx="5369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汽車期中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他新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針對原融部份另外卡已繳期數邏輯：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96C853A9-1796-E659-30A8-4C5C28B4150E}"/>
              </a:ext>
            </a:extLst>
          </p:cNvPr>
          <p:cNvGraphicFramePr>
            <a:graphicFrameLocks noGrp="1"/>
          </p:cNvGraphicFramePr>
          <p:nvPr/>
        </p:nvGraphicFramePr>
        <p:xfrm>
          <a:off x="417431" y="650218"/>
          <a:ext cx="5782201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68838">
                  <a:extLst>
                    <a:ext uri="{9D8B030D-6E8A-4147-A177-3AD203B41FA5}">
                      <a16:colId xmlns:a16="http://schemas.microsoft.com/office/drawing/2014/main" val="1203993718"/>
                    </a:ext>
                  </a:extLst>
                </a:gridCol>
                <a:gridCol w="1666754">
                  <a:extLst>
                    <a:ext uri="{9D8B030D-6E8A-4147-A177-3AD203B41FA5}">
                      <a16:colId xmlns:a16="http://schemas.microsoft.com/office/drawing/2014/main" val="1518842369"/>
                    </a:ext>
                  </a:extLst>
                </a:gridCol>
                <a:gridCol w="1546609">
                  <a:extLst>
                    <a:ext uri="{9D8B030D-6E8A-4147-A177-3AD203B41FA5}">
                      <a16:colId xmlns:a16="http://schemas.microsoft.com/office/drawing/2014/main" val="368686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汽車名單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撈取期數下限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撈取期數上限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88505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汽車期中名單 </a:t>
                      </a: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–</a:t>
                      </a: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他新中古</a:t>
                      </a: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84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8983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汽車期中名單 </a:t>
                      </a: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–</a:t>
                      </a: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非他新中古</a:t>
                      </a:r>
                      <a:endParaRPr lang="zh-TW" altLang="zh-TW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84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2349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汽車中結名單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u="none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64</a:t>
                      </a:r>
                      <a:endParaRPr lang="zh-TW" altLang="en-US" sz="1400" u="none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94545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</a:t>
                      </a: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滿期</a:t>
                      </a:r>
                      <a:r>
                        <a:rPr lang="zh-TW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名單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0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u="none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40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28482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汽車中結五年名單</a:t>
                      </a:r>
                      <a:endParaRPr lang="zh-TW" altLang="zh-TW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平均發放給一般組</a:t>
                      </a: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1013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汽車滿期三年名單</a:t>
                      </a:r>
                      <a:endParaRPr lang="zh-TW" altLang="zh-TW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平均發放給一般組</a:t>
                      </a: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38625392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11703983-5385-72EC-5F84-6A430263D7EF}"/>
              </a:ext>
            </a:extLst>
          </p:cNvPr>
          <p:cNvSpPr txBox="1"/>
          <p:nvPr/>
        </p:nvSpPr>
        <p:spPr>
          <a:xfrm>
            <a:off x="320424" y="3611903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機車名單、商品名單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2BB5FF84-9023-02D0-0F2E-454D5DD20D2B}"/>
              </a:ext>
            </a:extLst>
          </p:cNvPr>
          <p:cNvGraphicFramePr>
            <a:graphicFrameLocks noGrp="1"/>
          </p:cNvGraphicFramePr>
          <p:nvPr/>
        </p:nvGraphicFramePr>
        <p:xfrm>
          <a:off x="454085" y="4060222"/>
          <a:ext cx="5379831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55333">
                  <a:extLst>
                    <a:ext uri="{9D8B030D-6E8A-4147-A177-3AD203B41FA5}">
                      <a16:colId xmlns:a16="http://schemas.microsoft.com/office/drawing/2014/main" val="1455941219"/>
                    </a:ext>
                  </a:extLst>
                </a:gridCol>
                <a:gridCol w="1248410">
                  <a:extLst>
                    <a:ext uri="{9D8B030D-6E8A-4147-A177-3AD203B41FA5}">
                      <a16:colId xmlns:a16="http://schemas.microsoft.com/office/drawing/2014/main" val="3256006518"/>
                    </a:ext>
                  </a:extLst>
                </a:gridCol>
                <a:gridCol w="1576088">
                  <a:extLst>
                    <a:ext uri="{9D8B030D-6E8A-4147-A177-3AD203B41FA5}">
                      <a16:colId xmlns:a16="http://schemas.microsoft.com/office/drawing/2014/main" val="22389387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機車、商品名單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撈取期數下限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撈取期數上限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90025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機車期中名單</a:t>
                      </a:r>
                      <a:r>
                        <a:rPr lang="zh-TW" altLang="en-US" sz="140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（不發原融）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18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u="none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60</a:t>
                      </a:r>
                      <a:endParaRPr lang="zh-TW" altLang="en-US" sz="1400" b="0" u="none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6027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機車中結滿期名單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0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u="none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</a:t>
                      </a:r>
                      <a:endParaRPr lang="zh-TW" altLang="en-US" sz="1400" b="0" u="none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0709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機車中五滿五名單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kern="1200" noProof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取消發放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7643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商品期中名單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取消發放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3775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商品中結滿期名單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取消發放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5353530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FF69531A-110D-F18C-DDF8-716CFECFB000}"/>
              </a:ext>
            </a:extLst>
          </p:cNvPr>
          <p:cNvSpPr txBox="1"/>
          <p:nvPr/>
        </p:nvSpPr>
        <p:spPr>
          <a:xfrm>
            <a:off x="320424" y="20189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汽車名單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734C7BF-CAF4-BC89-8508-0E3C535DA5D4}"/>
              </a:ext>
            </a:extLst>
          </p:cNvPr>
          <p:cNvSpPr/>
          <p:nvPr/>
        </p:nvSpPr>
        <p:spPr>
          <a:xfrm>
            <a:off x="6547413" y="2123518"/>
            <a:ext cx="5369718" cy="376384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接點: 肘形 14">
            <a:extLst>
              <a:ext uri="{FF2B5EF4-FFF2-40B4-BE49-F238E27FC236}">
                <a16:creationId xmlns:a16="http://schemas.microsoft.com/office/drawing/2014/main" id="{DE4770F2-1515-71AC-EB80-7957441010E7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6204032" y="1170452"/>
            <a:ext cx="3028240" cy="953066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7676E3C9-D4A9-35F4-D2D9-847FEF8A03F5}"/>
              </a:ext>
            </a:extLst>
          </p:cNvPr>
          <p:cNvSpPr txBox="1"/>
          <p:nvPr/>
        </p:nvSpPr>
        <p:spPr>
          <a:xfrm>
            <a:off x="6547413" y="5975234"/>
            <a:ext cx="3344185" cy="6990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：汽機車名單混合發放</a:t>
            </a:r>
            <a:endParaRPr lang="en-US" altLang="zh-TW" sz="1400" b="1" dirty="0">
              <a:solidFill>
                <a:schemeClr val="bg1">
                  <a:lumMod val="6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1400" b="1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：汽車名單優先於機車名單進行發放</a:t>
            </a:r>
            <a:endParaRPr lang="en-US" altLang="zh-TW" sz="1400" b="1" dirty="0">
              <a:solidFill>
                <a:schemeClr val="bg1">
                  <a:lumMod val="6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8CB1BC8-2710-DFE4-D311-D7B67040B4C9}"/>
              </a:ext>
            </a:extLst>
          </p:cNvPr>
          <p:cNvSpPr txBox="1"/>
          <p:nvPr/>
        </p:nvSpPr>
        <p:spPr>
          <a:xfrm>
            <a:off x="454084" y="6285262"/>
            <a:ext cx="5379831" cy="375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1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1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：微型電動車因無法設定，將車牌</a:t>
            </a:r>
            <a:r>
              <a:rPr lang="en-US" altLang="zh-TW" sz="1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=</a:t>
            </a:r>
            <a:r>
              <a:rPr lang="zh-TW" altLang="en-US" sz="1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電動車的案件都歸類商品</a:t>
            </a:r>
            <a:endParaRPr lang="en-US" altLang="zh-TW" sz="14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6DE6E9E-F34B-D664-B847-FE42F3818DE8}"/>
              </a:ext>
            </a:extLst>
          </p:cNvPr>
          <p:cNvSpPr txBox="1"/>
          <p:nvPr/>
        </p:nvSpPr>
        <p:spPr>
          <a:xfrm>
            <a:off x="2973072" y="3325085"/>
            <a:ext cx="22669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1" dirty="0">
                <a:solidFill>
                  <a:schemeClr val="bg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1400" b="1" dirty="0">
                <a:solidFill>
                  <a:schemeClr val="bg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1400" b="1" dirty="0">
                <a:solidFill>
                  <a:schemeClr val="bg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：關懷名單發給廣宣組</a:t>
            </a:r>
          </a:p>
        </p:txBody>
      </p:sp>
    </p:spTree>
    <p:extLst>
      <p:ext uri="{BB962C8B-B14F-4D97-AF65-F5344CB8AC3E}">
        <p14:creationId xmlns:p14="http://schemas.microsoft.com/office/powerpoint/2010/main" val="20864581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24BE30-6319-AD55-434F-08C34449C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733" y="269333"/>
            <a:ext cx="3098074" cy="566692"/>
          </a:xfrm>
        </p:spPr>
        <p:txBody>
          <a:bodyPr>
            <a:normAutofit fontScale="90000"/>
          </a:bodyPr>
          <a:lstStyle/>
          <a:p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九、關懷名單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14C4E74-FE90-0B51-44FA-264AF34734CF}"/>
              </a:ext>
            </a:extLst>
          </p:cNvPr>
          <p:cNvSpPr txBox="1"/>
          <p:nvPr/>
        </p:nvSpPr>
        <p:spPr>
          <a:xfrm>
            <a:off x="512854" y="1120676"/>
            <a:ext cx="1129433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1.      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撈取</a:t>
            </a:r>
            <a:r>
              <a:rPr lang="en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N-7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個月的</a:t>
            </a:r>
            <a:r>
              <a:rPr lang="zh-TW" altLang="en-US" dirty="0">
                <a:highlight>
                  <a:srgbClr val="FFFF00"/>
                </a:highligh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進件明細</a:t>
            </a:r>
            <a:r>
              <a:rPr lang="en-US" altLang="zh-TW" dirty="0">
                <a:highlight>
                  <a:srgbClr val="FFFF00"/>
                </a:highligh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11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月要派就撈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月進件明細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且案件狀態為其他</a:t>
            </a:r>
          </a:p>
          <a:p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2.      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專案類別排除本牌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/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新車、本牌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/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營業車、他牌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/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新車、他牌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/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營業車、商品分期、第一商品</a:t>
            </a:r>
            <a:r>
              <a:rPr lang="en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</a:t>
            </a:r>
            <a:r>
              <a:rPr lang="zh-TW" altLang="en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重車、</a:t>
            </a:r>
            <a:r>
              <a:rPr lang="en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NULL</a:t>
            </a:r>
          </a:p>
          <a:p>
            <a:r>
              <a:rPr lang="en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3.      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該客戶</a:t>
            </a:r>
            <a:r>
              <a:rPr lang="en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ID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撈取當下於和潤無任何成案紀錄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非和潤</a:t>
            </a:r>
            <a:r>
              <a:rPr lang="en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CR)</a:t>
            </a:r>
          </a:p>
          <a:p>
            <a:r>
              <a:rPr lang="en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4.      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排除</a:t>
            </a:r>
            <a:r>
              <a:rPr lang="en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N-10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個月進件過的案件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避免不同月都有進件，造成重複派案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</a:t>
            </a:r>
          </a:p>
          <a:p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5.      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名單自動寫入客戶關懷名單，每人每日均分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7DFA2EC-28DF-A14C-4314-AD7C3524E14E}"/>
              </a:ext>
            </a:extLst>
          </p:cNvPr>
          <p:cNvSpPr txBox="1"/>
          <p:nvPr/>
        </p:nvSpPr>
        <p:spPr>
          <a:xfrm>
            <a:off x="3465576" y="368013"/>
            <a:ext cx="4736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IT</a:t>
            </a:r>
            <a:r>
              <a:rPr lang="zh-TW" altLang="en-US" dirty="0"/>
              <a:t>每月滾名單會給</a:t>
            </a:r>
          </a:p>
        </p:txBody>
      </p:sp>
    </p:spTree>
    <p:extLst>
      <p:ext uri="{BB962C8B-B14F-4D97-AF65-F5344CB8AC3E}">
        <p14:creationId xmlns:p14="http://schemas.microsoft.com/office/powerpoint/2010/main" val="10911006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E1647BA-CFDF-8040-A712-B70A7AB8AB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0"/>
            <a:ext cx="10515600" cy="685800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zh-TW" altLang="en-US" sz="1400" b="1" kern="26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十、</a:t>
            </a:r>
            <a:r>
              <a:rPr lang="en-US" altLang="zh-TW" sz="1400" b="1" kern="26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POOLDATA</a:t>
            </a:r>
            <a:r>
              <a:rPr lang="zh-TW" altLang="zh-TW" sz="1400" b="1" kern="26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邏輯</a:t>
            </a:r>
          </a:p>
          <a:p>
            <a:r>
              <a:rPr lang="zh-TW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符合以下條件的案件才會被丟進</a:t>
            </a:r>
            <a:r>
              <a:rPr lang="en-US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POOL</a:t>
            </a:r>
            <a:r>
              <a:rPr lang="zh-TW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內等待挑選。待電銷專案設定好之後，會從這個</a:t>
            </a:r>
            <a:r>
              <a:rPr lang="en-US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POOL</a:t>
            </a:r>
            <a:r>
              <a:rPr lang="zh-TW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把符合條件的案件挑出來，成為下個月名單。</a:t>
            </a:r>
          </a:p>
          <a:p>
            <a:pPr marL="342900" lvl="0" indent="-342900">
              <a:buFont typeface="+mj-lt"/>
              <a:buAutoNum type="arabicPeriod"/>
            </a:pPr>
            <a:r>
              <a:rPr lang="zh-TW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案件未法催（沒有遲繳</a:t>
            </a:r>
            <a:r>
              <a:rPr lang="en-US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30</a:t>
            </a:r>
            <a:r>
              <a:rPr lang="zh-TW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天）</a:t>
            </a:r>
          </a:p>
          <a:p>
            <a:pPr marL="342900" lvl="0" indent="-342900">
              <a:buFont typeface="+mj-lt"/>
              <a:buAutoNum type="arabicPeriod"/>
            </a:pPr>
            <a:r>
              <a:rPr lang="zh-TW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案件不為租賃</a:t>
            </a:r>
            <a:r>
              <a:rPr lang="en-US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/</a:t>
            </a:r>
            <a:r>
              <a:rPr lang="zh-TW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計程車（客戶名稱不含 租賃</a:t>
            </a:r>
            <a:r>
              <a:rPr lang="en-US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/</a:t>
            </a:r>
            <a:r>
              <a:rPr lang="zh-TW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交通</a:t>
            </a:r>
            <a:r>
              <a:rPr lang="en-US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/</a:t>
            </a:r>
            <a:r>
              <a:rPr lang="zh-TW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租車 者）</a:t>
            </a:r>
          </a:p>
          <a:p>
            <a:pPr marL="342900" lvl="0" indent="-342900">
              <a:buFont typeface="+mj-lt"/>
              <a:buAutoNum type="arabicPeriod"/>
            </a:pPr>
            <a:r>
              <a:rPr lang="zh-TW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車主非免責</a:t>
            </a:r>
          </a:p>
          <a:p>
            <a:pPr marL="342900" lvl="0" indent="-342900">
              <a:buFont typeface="+mj-lt"/>
              <a:buAutoNum type="arabicPeriod"/>
            </a:pPr>
            <a:r>
              <a:rPr lang="zh-TW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年齡小於</a:t>
            </a:r>
            <a:r>
              <a:rPr lang="en-US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70</a:t>
            </a:r>
            <a:r>
              <a:rPr lang="zh-TW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歲</a:t>
            </a:r>
          </a:p>
          <a:p>
            <a:pPr marL="342900" lvl="0" indent="-342900">
              <a:buFont typeface="+mj-lt"/>
              <a:buAutoNum type="arabicPeriod"/>
            </a:pPr>
            <a:r>
              <a:rPr lang="zh-TW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該客戶不曾</a:t>
            </a:r>
            <a:r>
              <a:rPr lang="en-US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91.</a:t>
            </a:r>
            <a:r>
              <a:rPr lang="zh-TW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扣回車</a:t>
            </a:r>
            <a:r>
              <a:rPr lang="en-US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92.</a:t>
            </a:r>
            <a:r>
              <a:rPr lang="zh-TW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呆帳</a:t>
            </a:r>
          </a:p>
          <a:p>
            <a:pPr marL="342900" lvl="0" indent="-342900">
              <a:buFont typeface="+mj-lt"/>
              <a:buAutoNum type="arabicPeriod"/>
            </a:pPr>
            <a:r>
              <a:rPr lang="zh-TW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產品類別不為 </a:t>
            </a:r>
            <a:r>
              <a:rPr lang="en-US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11.</a:t>
            </a:r>
            <a:r>
              <a:rPr lang="zh-TW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保單 </a:t>
            </a:r>
            <a:r>
              <a:rPr lang="en-US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12.</a:t>
            </a:r>
            <a:r>
              <a:rPr lang="zh-TW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信貸</a:t>
            </a:r>
          </a:p>
          <a:p>
            <a:pPr marL="342900" lvl="0" indent="-342900">
              <a:buFont typeface="+mj-lt"/>
              <a:buAutoNum type="arabicPeriod"/>
            </a:pPr>
            <a:r>
              <a:rPr lang="zh-TW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排除汽車案件車齡超過</a:t>
            </a:r>
            <a:r>
              <a:rPr lang="en-US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20</a:t>
            </a:r>
            <a:r>
              <a:rPr lang="zh-TW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年（品牌：</a:t>
            </a:r>
            <a:r>
              <a:rPr lang="en-US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TOYOTA, LEXUS, BMW, M-BENZ</a:t>
            </a:r>
            <a:r>
              <a:rPr lang="zh-TW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）</a:t>
            </a:r>
          </a:p>
          <a:p>
            <a:pPr marL="342900" lvl="0" indent="-342900">
              <a:buFont typeface="+mj-lt"/>
              <a:buAutoNum type="arabicPeriod"/>
            </a:pPr>
            <a:r>
              <a:rPr lang="zh-TW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排除汽車案件車齡超過</a:t>
            </a:r>
            <a:r>
              <a:rPr lang="en-US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20</a:t>
            </a:r>
            <a:r>
              <a:rPr lang="zh-TW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年（非</a:t>
            </a:r>
            <a:r>
              <a:rPr lang="en-US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TOYOTA, LEXUS, BMW, M-BENZ</a:t>
            </a:r>
            <a:r>
              <a:rPr lang="zh-TW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）</a:t>
            </a:r>
            <a:endParaRPr lang="en-US" altLang="zh-TW" sz="14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zh-TW" altLang="en-US" sz="1400" kern="1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排除機車車齡超過</a:t>
            </a:r>
            <a:r>
              <a:rPr lang="en-US" altLang="zh-TW" sz="1400" kern="1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6</a:t>
            </a:r>
            <a:r>
              <a:rPr lang="zh-TW" altLang="en-US" sz="1400" kern="1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年</a:t>
            </a:r>
            <a:r>
              <a:rPr lang="zh-TW" altLang="en-US" sz="1400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（卡最低價：新車價*折舊率</a:t>
            </a:r>
            <a:r>
              <a:rPr lang="en-US" altLang="zh-TW" sz="1400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69%</a:t>
            </a:r>
            <a:r>
              <a:rPr lang="zh-TW" altLang="en-US" sz="1400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）</a:t>
            </a:r>
            <a:r>
              <a:rPr lang="en-US" altLang="zh-TW" sz="1200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2025/1</a:t>
            </a:r>
            <a:r>
              <a:rPr lang="zh-TW" altLang="en-US" sz="1200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名單新增</a:t>
            </a:r>
            <a:endParaRPr lang="zh-TW" altLang="zh-TW" sz="1400" kern="100" dirty="0">
              <a:solidFill>
                <a:srgbClr val="FF000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zh-TW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排除在長租註記勿行銷的客戶</a:t>
            </a:r>
          </a:p>
          <a:p>
            <a:pPr marL="342900" lvl="0" indent="-342900">
              <a:buFont typeface="+mj-lt"/>
              <a:buAutoNum type="arabicPeriod"/>
            </a:pPr>
            <a:r>
              <a:rPr lang="zh-TW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排除在</a:t>
            </a:r>
            <a:r>
              <a:rPr lang="en-US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CRM</a:t>
            </a:r>
            <a:r>
              <a:rPr lang="zh-TW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註記勿行銷的客戶</a:t>
            </a:r>
          </a:p>
          <a:p>
            <a:pPr marL="342900" lvl="0" indent="-342900">
              <a:buFont typeface="+mj-lt"/>
              <a:buAutoNum type="arabicPeriod"/>
            </a:pPr>
            <a:r>
              <a:rPr lang="zh-TW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排除在</a:t>
            </a:r>
            <a:r>
              <a:rPr lang="en-US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OB</a:t>
            </a:r>
            <a:r>
              <a:rPr lang="zh-TW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註記勿行銷（電話空號</a:t>
            </a:r>
            <a:r>
              <a:rPr lang="en-US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/</a:t>
            </a:r>
            <a:r>
              <a:rPr lang="zh-TW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勿行銷）的客戶</a:t>
            </a:r>
          </a:p>
          <a:p>
            <a:pPr marL="342900" lvl="0" indent="-342900">
              <a:buFont typeface="+mj-lt"/>
              <a:buAutoNum type="arabicPeriod"/>
            </a:pPr>
            <a:r>
              <a:rPr lang="zh-TW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排除在</a:t>
            </a:r>
            <a:r>
              <a:rPr lang="en-US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CRM</a:t>
            </a:r>
            <a:r>
              <a:rPr lang="zh-TW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註記 </a:t>
            </a:r>
            <a:r>
              <a:rPr lang="en-US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7.</a:t>
            </a:r>
            <a:r>
              <a:rPr lang="zh-TW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客戶資料有誤 </a:t>
            </a:r>
            <a:r>
              <a:rPr lang="en-US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12.</a:t>
            </a:r>
            <a:r>
              <a:rPr lang="zh-TW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無法承作 的客戶</a:t>
            </a:r>
          </a:p>
          <a:p>
            <a:pPr marL="342900" lvl="0" indent="-342900">
              <a:buFont typeface="+mj-lt"/>
              <a:buAutoNum type="arabicPeriod"/>
            </a:pPr>
            <a:r>
              <a:rPr lang="zh-TW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排除近三個月有進件的客戶</a:t>
            </a:r>
          </a:p>
          <a:p>
            <a:pPr marL="342900" lvl="0" indent="-342900">
              <a:buFont typeface="+mj-lt"/>
              <a:buAutoNum type="arabicPeriod"/>
            </a:pPr>
            <a:r>
              <a:rPr lang="zh-TW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排除借款人資料不符案件</a:t>
            </a:r>
            <a:r>
              <a:rPr lang="en-US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手機格式非</a:t>
            </a:r>
            <a:r>
              <a:rPr lang="en-US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10</a:t>
            </a:r>
            <a:r>
              <a:rPr lang="zh-TW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碼</a:t>
            </a:r>
            <a:r>
              <a:rPr lang="en-US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endParaRPr lang="zh-TW" altLang="zh-TW" sz="14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zh-TW" altLang="zh-TW" sz="1400" kern="1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排除借款本金小於</a:t>
            </a:r>
            <a:r>
              <a:rPr lang="en-US" altLang="zh-TW" sz="1400" kern="1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10,000</a:t>
            </a:r>
            <a:r>
              <a:rPr lang="zh-TW" altLang="zh-TW" sz="1400" kern="1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元案件</a:t>
            </a:r>
            <a:endParaRPr lang="en-US" altLang="zh-TW" sz="1400" kern="100" dirty="0">
              <a:solidFill>
                <a:srgbClr val="FF000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zh-TW" altLang="en-US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排除法催系統有</a:t>
            </a:r>
            <a:r>
              <a:rPr lang="en-US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[</a:t>
            </a:r>
            <a:r>
              <a:rPr lang="zh-TW" altLang="en-US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撰狀日</a:t>
            </a:r>
            <a:r>
              <a:rPr lang="en-US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] </a:t>
            </a:r>
            <a:r>
              <a:rPr lang="zh-TW" altLang="en-US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的案件</a:t>
            </a:r>
            <a:endParaRPr lang="en-US" altLang="zh-TW" sz="14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PS</a:t>
            </a:r>
            <a:r>
              <a:rPr lang="zh-TW" altLang="zh-TW" sz="14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：一位客戶即使有多車也是只會抓一最有優勢案件作為名單，不會因為多車就被多打到電話</a:t>
            </a:r>
            <a:endParaRPr lang="en-US" altLang="zh-TW" sz="14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altLang="zh-TW" sz="1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PS</a:t>
            </a:r>
            <a:r>
              <a:rPr lang="zh-TW" altLang="en-US" sz="1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：名單跑完後會去檢查近三個月有派過的名單加以刪除，例：跑</a:t>
            </a:r>
            <a:r>
              <a:rPr lang="en-US" altLang="zh-TW" sz="1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6</a:t>
            </a:r>
            <a:r>
              <a:rPr lang="zh-TW" altLang="en-US" sz="1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月份的名單時，會刪去</a:t>
            </a:r>
            <a:r>
              <a:rPr lang="en-US" altLang="zh-TW" sz="1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  <a:r>
              <a:rPr lang="zh-TW" altLang="en-US" sz="1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、</a:t>
            </a:r>
            <a:r>
              <a:rPr lang="en-US" altLang="zh-TW" sz="1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4</a:t>
            </a:r>
            <a:r>
              <a:rPr lang="zh-TW" altLang="en-US" sz="1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、</a:t>
            </a:r>
            <a:r>
              <a:rPr lang="en-US" altLang="zh-TW" sz="1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</a:t>
            </a:r>
            <a:r>
              <a:rPr lang="zh-TW" altLang="en-US" sz="1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月派過的名單</a:t>
            </a:r>
            <a:endParaRPr lang="en-US" altLang="zh-TW" sz="14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59644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24BE30-6319-AD55-434F-08C34449C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732" y="269333"/>
            <a:ext cx="6357691" cy="566692"/>
          </a:xfrm>
        </p:spPr>
        <p:txBody>
          <a:bodyPr>
            <a:normAutofit fontScale="90000"/>
          </a:bodyPr>
          <a:lstStyle/>
          <a:p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十一、優勢案件篩選條件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9C9B1F-54CB-52D7-AA71-FC01D34DD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082" y="836025"/>
            <a:ext cx="5420457" cy="5995763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C1946827-817E-F562-0531-4C5FDCCCA660}"/>
              </a:ext>
            </a:extLst>
          </p:cNvPr>
          <p:cNvSpPr txBox="1"/>
          <p:nvPr/>
        </p:nvSpPr>
        <p:spPr>
          <a:xfrm>
            <a:off x="6239463" y="2503170"/>
            <a:ext cx="33489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現期中</a:t>
            </a:r>
            <a:r>
              <a:rPr kumimoji="1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12</a:t>
            </a:r>
            <a:r>
              <a:rPr kumimoji="1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期限制已被改為</a:t>
            </a:r>
            <a:r>
              <a:rPr kumimoji="1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kumimoji="1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期</a:t>
            </a:r>
            <a:endParaRPr kumimoji="1"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kumimoji="1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專案名稱沒有白牌限制仍在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6E2BAF6-D7F1-4435-6CCB-D9C732527B7C}"/>
              </a:ext>
            </a:extLst>
          </p:cNvPr>
          <p:cNvSpPr txBox="1"/>
          <p:nvPr/>
        </p:nvSpPr>
        <p:spPr>
          <a:xfrm>
            <a:off x="8838087" y="651359"/>
            <a:ext cx="1606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OB=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滿期行銷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281712D-C9B7-290F-9E72-B3C1E98FCD2C}"/>
              </a:ext>
            </a:extLst>
          </p:cNvPr>
          <p:cNvSpPr txBox="1"/>
          <p:nvPr/>
        </p:nvSpPr>
        <p:spPr>
          <a:xfrm>
            <a:off x="6239463" y="3244334"/>
            <a:ext cx="5791970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系統以</a:t>
            </a:r>
            <a:r>
              <a:rPr lang="en-US" altLang="zh-TW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ID</a:t>
            </a:r>
            <a:r>
              <a:rPr lang="zh-TW" altLang="en-US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為主</a:t>
            </a:r>
            <a:r>
              <a:rPr lang="en-US" altLang="zh-TW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按照案件已繳期數小到大，繳款日小到大</a:t>
            </a:r>
            <a:endParaRPr lang="en-US" altLang="zh-TW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rtl="0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優勢案件順位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rtl="0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順位一：期中案件→已繳期數低到高</a:t>
            </a:r>
          </a:p>
          <a:p>
            <a:pPr rtl="0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順位二：當月滿期案件→滿期日期較新優先</a:t>
            </a:r>
          </a:p>
          <a:p>
            <a:pPr rtl="0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順位三：中結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&gt;=4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個月案件→案件申請日較新優先</a:t>
            </a:r>
          </a:p>
          <a:p>
            <a:pPr rtl="0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順位四：滿期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&gt;=4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個月案件→滿期日期較新優先</a:t>
            </a:r>
          </a:p>
          <a:p>
            <a:pPr rtl="0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順位五：滿期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&lt;4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個月→滿期日期較新優先</a:t>
            </a:r>
          </a:p>
          <a:p>
            <a:pPr rtl="0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順位六：中結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&lt;=4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個月案件→案件申請日較新優先</a:t>
            </a:r>
          </a:p>
          <a:p>
            <a:pPr rtl="0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順位七：其他案件→撥款日較新優先</a:t>
            </a:r>
          </a:p>
          <a:p>
            <a:endParaRPr lang="en-US" altLang="zh-TW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2024/08 </a:t>
            </a:r>
            <a:r>
              <a:rPr lang="zh-TW" altLang="en-US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新增汽車名單優先於機車商品，再來滾優勢案</a:t>
            </a:r>
          </a:p>
        </p:txBody>
      </p:sp>
    </p:spTree>
    <p:extLst>
      <p:ext uri="{BB962C8B-B14F-4D97-AF65-F5344CB8AC3E}">
        <p14:creationId xmlns:p14="http://schemas.microsoft.com/office/powerpoint/2010/main" val="17928974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24BE30-6319-AD55-434F-08C34449C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237" y="547628"/>
            <a:ext cx="3098074" cy="566692"/>
          </a:xfrm>
        </p:spPr>
        <p:txBody>
          <a:bodyPr>
            <a:normAutofit fontScale="90000"/>
          </a:bodyPr>
          <a:lstStyle/>
          <a:p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十二、</a:t>
            </a:r>
            <a:b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名單權值</a:t>
            </a:r>
          </a:p>
        </p:txBody>
      </p:sp>
      <p:graphicFrame>
        <p:nvGraphicFramePr>
          <p:cNvPr id="3" name="表格 4">
            <a:extLst>
              <a:ext uri="{FF2B5EF4-FFF2-40B4-BE49-F238E27FC236}">
                <a16:creationId xmlns:a16="http://schemas.microsoft.com/office/drawing/2014/main" id="{BE0F9325-1468-7012-89BE-921107CF8D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9117566"/>
              </p:ext>
            </p:extLst>
          </p:nvPr>
        </p:nvGraphicFramePr>
        <p:xfrm>
          <a:off x="316532" y="1432373"/>
          <a:ext cx="11558936" cy="4471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9734">
                  <a:extLst>
                    <a:ext uri="{9D8B030D-6E8A-4147-A177-3AD203B41FA5}">
                      <a16:colId xmlns:a16="http://schemas.microsoft.com/office/drawing/2014/main" val="163539323"/>
                    </a:ext>
                  </a:extLst>
                </a:gridCol>
                <a:gridCol w="2889734">
                  <a:extLst>
                    <a:ext uri="{9D8B030D-6E8A-4147-A177-3AD203B41FA5}">
                      <a16:colId xmlns:a16="http://schemas.microsoft.com/office/drawing/2014/main" val="2797805308"/>
                    </a:ext>
                  </a:extLst>
                </a:gridCol>
                <a:gridCol w="2889734">
                  <a:extLst>
                    <a:ext uri="{9D8B030D-6E8A-4147-A177-3AD203B41FA5}">
                      <a16:colId xmlns:a16="http://schemas.microsoft.com/office/drawing/2014/main" val="2344993818"/>
                    </a:ext>
                  </a:extLst>
                </a:gridCol>
                <a:gridCol w="2889734">
                  <a:extLst>
                    <a:ext uri="{9D8B030D-6E8A-4147-A177-3AD203B41FA5}">
                      <a16:colId xmlns:a16="http://schemas.microsoft.com/office/drawing/2014/main" val="3170242811"/>
                    </a:ext>
                  </a:extLst>
                </a:gridCol>
              </a:tblGrid>
              <a:tr h="466302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名單類型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權值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備註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9178557"/>
                  </a:ext>
                </a:extLst>
              </a:tr>
              <a:tr h="471055"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分派名單</a:t>
                      </a:r>
                      <a:endParaRPr lang="en-US" altLang="zh-TW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CR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名單（承辦人為分派者）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strike="noStrike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1.0</a:t>
                      </a:r>
                      <a:endParaRPr lang="zh-TW" altLang="en-US" sz="1400" strike="sngStrike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9804643"/>
                  </a:ext>
                </a:extLst>
              </a:tr>
              <a:tr h="387926">
                <a:tc vMerge="1">
                  <a:txBody>
                    <a:bodyPr/>
                    <a:lstStyle/>
                    <a:p>
                      <a:endParaRPr lang="en-US" altLang="zh-TW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非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CR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名單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1.0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2770405"/>
                  </a:ext>
                </a:extLst>
              </a:tr>
              <a:tr h="295565">
                <a:tc rowSpan="4"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外部名單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作服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CR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維繫、客戶關懷、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YOXI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車內廣告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1.0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因成交率低，有加權鼓勵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6562095"/>
                  </a:ext>
                </a:extLst>
              </a:tr>
              <a:tr h="414714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信審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CR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維繫</a:t>
                      </a:r>
                      <a:endParaRPr lang="en-US" altLang="zh-TW" sz="1400" strike="sngStrike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1.0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072355"/>
                  </a:ext>
                </a:extLst>
              </a:tr>
              <a:tr h="535709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舊客回找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1.0</a:t>
                      </a:r>
                      <a:endParaRPr lang="zh-TW" altLang="en-US" sz="1400" strike="sngStrike" dirty="0">
                        <a:highlight>
                          <a:srgbClr val="FFFF00"/>
                        </a:highlight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成交車號非公司保有過車號，權值則為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1.0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6195672"/>
                  </a:ext>
                </a:extLst>
              </a:tr>
              <a:tr h="249652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其他外部名單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(LINE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LINE@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LINE@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行銷客戶、官網、線上客服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CAMI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、輕鬆付貸款申請、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0800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貸款需求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0.8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7526929"/>
                  </a:ext>
                </a:extLst>
              </a:tr>
              <a:tr h="732714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他人名單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0.2/0.5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2023.05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業績開始：成交非公司保有車號的他人名單權值為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0.5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，其餘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0.2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2229321"/>
                  </a:ext>
                </a:extLst>
              </a:tr>
            </a:tbl>
          </a:graphicData>
        </a:graphic>
      </p:graphicFrame>
      <p:sp>
        <p:nvSpPr>
          <p:cNvPr id="5" name="文字方塊 4">
            <a:extLst>
              <a:ext uri="{FF2B5EF4-FFF2-40B4-BE49-F238E27FC236}">
                <a16:creationId xmlns:a16="http://schemas.microsoft.com/office/drawing/2014/main" id="{CBD29103-0568-53EA-75E8-C289166BA338}"/>
              </a:ext>
            </a:extLst>
          </p:cNvPr>
          <p:cNvSpPr txBox="1"/>
          <p:nvPr/>
        </p:nvSpPr>
        <p:spPr>
          <a:xfrm>
            <a:off x="2408300" y="507809"/>
            <a:ext cx="96408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名單來源優先順序: 外部反行銷&gt; 外部Line@行銷客&gt; 外部貸款需求(0800貸款需求、官網CAMI、官網表單) &gt; 分派名單&gt; 其他外部名單</a:t>
            </a:r>
            <a:r>
              <a:rPr lang="zh-TW" altLang="en-US" dirty="0">
                <a:highlight>
                  <a:srgbClr val="FFFF00"/>
                </a:highligh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（如果廣宣組打到分派名單權值會按順序給</a:t>
            </a:r>
          </a:p>
        </p:txBody>
      </p:sp>
    </p:spTree>
    <p:extLst>
      <p:ext uri="{BB962C8B-B14F-4D97-AF65-F5344CB8AC3E}">
        <p14:creationId xmlns:p14="http://schemas.microsoft.com/office/powerpoint/2010/main" val="327996144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24BE30-6319-AD55-434F-08C34449C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732" y="269333"/>
            <a:ext cx="4282003" cy="566692"/>
          </a:xfrm>
        </p:spPr>
        <p:txBody>
          <a:bodyPr>
            <a:normAutofit fontScale="90000"/>
          </a:bodyPr>
          <a:lstStyle/>
          <a:p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十三、業績明細欄位</a:t>
            </a: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22FF904-77F8-FF8A-D357-FB353D237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前案專案名稱：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0" indent="0">
              <a:buNone/>
            </a:pP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用車主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ID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關聯最近的已中結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/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滿期案件專案名稱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0" indent="0">
              <a:buNone/>
            </a:pP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OD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前案專案名稱：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0" indent="0">
              <a:buNone/>
            </a:pP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用案件車號關聯最近的已中結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/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滿期案件專案名稱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0" indent="0">
              <a:buNone/>
            </a:pP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779429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24BE30-6319-AD55-434F-08C34449C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733" y="269333"/>
            <a:ext cx="3098074" cy="566692"/>
          </a:xfrm>
        </p:spPr>
        <p:txBody>
          <a:bodyPr>
            <a:normAutofit fontScale="90000"/>
          </a:bodyPr>
          <a:lstStyle/>
          <a:p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十四、名單設定</a:t>
            </a: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22FF904-77F8-FF8A-D357-FB353D237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名單名稱設定：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0" indent="0">
              <a:buNone/>
            </a:pP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不可移除最前年月、最後英文數字（跑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Tier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會用到）、「年以上」、「機車」、「期中」等字眼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3079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30833</TotalTime>
  <Words>7015</Words>
  <Application>Microsoft Office PowerPoint</Application>
  <PresentationFormat>寬螢幕</PresentationFormat>
  <Paragraphs>1322</Paragraphs>
  <Slides>34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34</vt:i4>
      </vt:variant>
    </vt:vector>
  </HeadingPairs>
  <TitlesOfParts>
    <vt:vector size="42" baseType="lpstr">
      <vt:lpstr>Microsoft JhengHei UI</vt:lpstr>
      <vt:lpstr>微軟正黑體</vt:lpstr>
      <vt:lpstr>新細明體</vt:lpstr>
      <vt:lpstr>Aptos</vt:lpstr>
      <vt:lpstr>Arial</vt:lpstr>
      <vt:lpstr>Calibri</vt:lpstr>
      <vt:lpstr>Calibri Light</vt:lpstr>
      <vt:lpstr>Office 佈景主題</vt:lpstr>
      <vt:lpstr>電銷手冊</vt:lpstr>
      <vt:lpstr>一、名單規則</vt:lpstr>
      <vt:lpstr>二、名單回收規範</vt:lpstr>
      <vt:lpstr>三、外部名單規則</vt:lpstr>
      <vt:lpstr>三、外部名單規則</vt:lpstr>
      <vt:lpstr>四、外部名單來源</vt:lpstr>
      <vt:lpstr>五、名單種類</vt:lpstr>
      <vt:lpstr>PowerPoint 簡報</vt:lpstr>
      <vt:lpstr>七、名單等級</vt:lpstr>
      <vt:lpstr>八、名單邏輯調整</vt:lpstr>
      <vt:lpstr>名單分派邏輯 – 依職級交換難易名單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九、關懷名單</vt:lpstr>
      <vt:lpstr>PowerPoint 簡報</vt:lpstr>
      <vt:lpstr>十一、優勢案件篩選條件</vt:lpstr>
      <vt:lpstr>十二、 名單權值</vt:lpstr>
      <vt:lpstr>十三、業績明細欄位</vt:lpstr>
      <vt:lpstr>十四、名單設定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李韋澔</dc:creator>
  <cp:lastModifiedBy>陳彥蓉</cp:lastModifiedBy>
  <cp:revision>100</cp:revision>
  <dcterms:created xsi:type="dcterms:W3CDTF">2022-08-08T01:51:53Z</dcterms:created>
  <dcterms:modified xsi:type="dcterms:W3CDTF">2025-08-22T07:17:59Z</dcterms:modified>
</cp:coreProperties>
</file>